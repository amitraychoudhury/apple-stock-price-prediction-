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lice" panose="020B0604020202020204" charset="0"/>
      <p:regular r:id="rId18"/>
    </p:embeddedFont>
    <p:embeddedFont>
      <p:font typeface="Belleza" panose="020B0604020202020204" charset="0"/>
      <p:regular r:id="rId19"/>
    </p:embeddedFont>
    <p:embeddedFont>
      <p:font typeface="Biski" panose="020B0604020202020204" charset="-34"/>
      <p:regular r:id="rId20"/>
    </p:embeddedFont>
    <p:embeddedFont>
      <p:font typeface="Brick Sans" panose="020B0604020202020204" charset="0"/>
      <p:regular r:id="rId21"/>
    </p:embeddedFont>
    <p:embeddedFont>
      <p:font typeface="Calibri" panose="020F0502020204030204" pitchFamily="34" charset="0"/>
      <p:regular r:id="rId22"/>
      <p:bold r:id="rId23"/>
      <p:italic r:id="rId24"/>
      <p:boldItalic r:id="rId25"/>
    </p:embeddedFont>
    <p:embeddedFont>
      <p:font typeface="Canva Sans" panose="020B0604020202020204" charset="0"/>
      <p:regular r:id="rId26"/>
    </p:embeddedFont>
    <p:embeddedFont>
      <p:font typeface="Canva Sans Bold" panose="020B0604020202020204" charset="0"/>
      <p:regular r:id="rId27"/>
    </p:embeddedFont>
    <p:embeddedFont>
      <p:font typeface="Cardo Bold" panose="020B0604020202020204" charset="-79"/>
      <p:regular r:id="rId28"/>
    </p:embeddedFont>
    <p:embeddedFont>
      <p:font typeface="The Seasons" panose="020B0604020202020204" charset="0"/>
      <p:regular r:id="rId29"/>
    </p:embeddedFont>
    <p:embeddedFont>
      <p:font typeface="TT Hoves" panose="020B0604020202020204" charset="0"/>
      <p:regular r:id="rId30"/>
    </p:embeddedFont>
    <p:embeddedFont>
      <p:font typeface="TT Hoves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104"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6.svg"/><Relationship Id="rId7" Type="http://schemas.openxmlformats.org/officeDocument/2006/relationships/image" Target="../media/image48.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grpSp>
        <p:nvGrpSpPr>
          <p:cNvPr id="3" name="Group 3"/>
          <p:cNvGrpSpPr/>
          <p:nvPr/>
        </p:nvGrpSpPr>
        <p:grpSpPr>
          <a:xfrm>
            <a:off x="895036" y="966707"/>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id="5" name="TextBox 5"/>
            <p:cNvSpPr txBox="1"/>
            <p:nvPr/>
          </p:nvSpPr>
          <p:spPr>
            <a:xfrm>
              <a:off x="0" y="-57150"/>
              <a:ext cx="4274726" cy="222461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2682907" y="1784150"/>
            <a:ext cx="762000" cy="640080"/>
          </a:xfrm>
          <a:custGeom>
            <a:avLst/>
            <a:gdLst/>
            <a:ahLst/>
            <a:cxnLst/>
            <a:rect l="l" t="t" r="r" b="b"/>
            <a:pathLst>
              <a:path w="762000" h="640080">
                <a:moveTo>
                  <a:pt x="0" y="0"/>
                </a:moveTo>
                <a:lnTo>
                  <a:pt x="762000" y="0"/>
                </a:lnTo>
                <a:lnTo>
                  <a:pt x="762000" y="640080"/>
                </a:lnTo>
                <a:lnTo>
                  <a:pt x="0" y="640080"/>
                </a:lnTo>
                <a:lnTo>
                  <a:pt x="0" y="0"/>
                </a:lnTo>
                <a:close/>
              </a:path>
            </a:pathLst>
          </a:custGeom>
          <a:blipFill>
            <a:blip r:embed="rId3"/>
            <a:stretch>
              <a:fillRect/>
            </a:stretch>
          </a:blipFill>
        </p:spPr>
      </p:sp>
      <p:sp>
        <p:nvSpPr>
          <p:cNvPr id="7" name="TextBox 7"/>
          <p:cNvSpPr txBox="1"/>
          <p:nvPr/>
        </p:nvSpPr>
        <p:spPr>
          <a:xfrm>
            <a:off x="673514" y="2844982"/>
            <a:ext cx="16673643" cy="3049735"/>
          </a:xfrm>
          <a:prstGeom prst="rect">
            <a:avLst/>
          </a:prstGeom>
        </p:spPr>
        <p:txBody>
          <a:bodyPr lIns="0" tIns="0" rIns="0" bIns="0" rtlCol="0" anchor="t">
            <a:spAutoFit/>
          </a:bodyPr>
          <a:lstStyle/>
          <a:p>
            <a:pPr algn="ctr">
              <a:lnSpc>
                <a:spcPts val="11979"/>
              </a:lnSpc>
            </a:pPr>
            <a:r>
              <a:rPr lang="en-US" sz="8556" dirty="0">
                <a:gradFill>
                  <a:gsLst>
                    <a:gs pos="0">
                      <a:srgbClr val="00FF40">
                        <a:alpha val="100000"/>
                      </a:srgbClr>
                    </a:gs>
                    <a:gs pos="50000">
                      <a:srgbClr val="0DAFAB">
                        <a:alpha val="100000"/>
                      </a:srgbClr>
                    </a:gs>
                    <a:gs pos="100000">
                      <a:srgbClr val="1CFF00">
                        <a:alpha val="100000"/>
                      </a:srgbClr>
                    </a:gs>
                  </a:gsLst>
                  <a:path path="circle">
                    <a:fillToRect r="100000" b="100000"/>
                  </a:path>
                  <a:tileRect l="-100000" t="-100000"/>
                </a:gradFill>
                <a:latin typeface="Brick Sans"/>
                <a:ea typeface="Brick Sans"/>
                <a:cs typeface="Brick Sans"/>
                <a:sym typeface="Brick Sans"/>
              </a:rPr>
              <a:t>Apple Stock Price</a:t>
            </a:r>
          </a:p>
          <a:p>
            <a:pPr algn="ctr">
              <a:lnSpc>
                <a:spcPts val="11979"/>
              </a:lnSpc>
            </a:pPr>
            <a:r>
              <a:rPr lang="en-US" sz="8556" dirty="0">
                <a:gradFill>
                  <a:gsLst>
                    <a:gs pos="0">
                      <a:srgbClr val="00FF40">
                        <a:alpha val="100000"/>
                      </a:srgbClr>
                    </a:gs>
                    <a:gs pos="50000">
                      <a:srgbClr val="0DAFAB">
                        <a:alpha val="100000"/>
                      </a:srgbClr>
                    </a:gs>
                    <a:gs pos="100000">
                      <a:srgbClr val="1CFF00">
                        <a:alpha val="100000"/>
                      </a:srgbClr>
                    </a:gs>
                  </a:gsLst>
                  <a:path path="circle">
                    <a:fillToRect r="100000" b="100000"/>
                  </a:path>
                  <a:tileRect l="-100000" t="-100000"/>
                </a:gradFill>
                <a:latin typeface="Brick Sans"/>
                <a:ea typeface="Brick Sans"/>
                <a:cs typeface="Brick Sans"/>
                <a:sym typeface="Brick Sans"/>
              </a:rPr>
              <a:t> Forecasting</a:t>
            </a:r>
          </a:p>
        </p:txBody>
      </p:sp>
      <p:sp>
        <p:nvSpPr>
          <p:cNvPr id="8" name="TextBox 8"/>
          <p:cNvSpPr txBox="1"/>
          <p:nvPr/>
        </p:nvSpPr>
        <p:spPr>
          <a:xfrm>
            <a:off x="4556833" y="6609092"/>
            <a:ext cx="9174334" cy="749833"/>
          </a:xfrm>
          <a:prstGeom prst="rect">
            <a:avLst/>
          </a:prstGeom>
        </p:spPr>
        <p:txBody>
          <a:bodyPr lIns="0" tIns="0" rIns="0" bIns="0" rtlCol="0" anchor="t">
            <a:spAutoFit/>
          </a:bodyPr>
          <a:lstStyle/>
          <a:p>
            <a:pPr algn="ctr">
              <a:lnSpc>
                <a:spcPts val="4197"/>
              </a:lnSpc>
            </a:pPr>
            <a:r>
              <a:rPr lang="en-US" sz="2998">
                <a:gradFill>
                  <a:gsLst>
                    <a:gs pos="0">
                      <a:srgbClr val="33CD91">
                        <a:alpha val="100000"/>
                      </a:srgbClr>
                    </a:gs>
                    <a:gs pos="100000">
                      <a:srgbClr val="27EBFF">
                        <a:alpha val="100000"/>
                      </a:srgbClr>
                    </a:gs>
                  </a:gsLst>
                  <a:lin ang="0"/>
                </a:gradFill>
                <a:latin typeface="Biski"/>
                <a:ea typeface="Biski"/>
                <a:cs typeface="Biski"/>
                <a:sym typeface="Biski"/>
              </a:rPr>
              <a:t>A Time Series Modeling and Deployment Project</a:t>
            </a:r>
          </a:p>
        </p:txBody>
      </p:sp>
      <p:sp>
        <p:nvSpPr>
          <p:cNvPr id="9" name="TextBox 9"/>
          <p:cNvSpPr txBox="1"/>
          <p:nvPr/>
        </p:nvSpPr>
        <p:spPr>
          <a:xfrm>
            <a:off x="13685003" y="8229601"/>
            <a:ext cx="2988041" cy="779059"/>
          </a:xfrm>
          <a:prstGeom prst="rect">
            <a:avLst/>
          </a:prstGeom>
        </p:spPr>
        <p:txBody>
          <a:bodyPr wrap="square" lIns="0" tIns="0" rIns="0" bIns="0" rtlCol="0" anchor="t">
            <a:spAutoFit/>
          </a:bodyPr>
          <a:lstStyle/>
          <a:p>
            <a:pPr algn="ctr">
              <a:lnSpc>
                <a:spcPts val="6299"/>
              </a:lnSpc>
            </a:pPr>
            <a:r>
              <a:rPr lang="en-US" sz="4499" b="1" dirty="0">
                <a:solidFill>
                  <a:srgbClr val="141A1E"/>
                </a:solidFill>
                <a:latin typeface="Cardo Bold"/>
                <a:ea typeface="Cardo Bold"/>
                <a:cs typeface="Cardo Bold"/>
                <a:sym typeface="Cardo Bold"/>
              </a:rPr>
              <a:t>Group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0000">
                    <a:alpha val="79000"/>
                  </a:srgbClr>
                </a:gs>
                <a:gs pos="100000">
                  <a:srgbClr val="33CD91">
                    <a:alpha val="79000"/>
                  </a:srgbClr>
                </a:gs>
              </a:gsLst>
              <a:lin ang="0"/>
            </a:gradFill>
          </p:spPr>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rot="6004901">
            <a:off x="-3636981" y="5231340"/>
            <a:ext cx="8809549" cy="8505219"/>
          </a:xfrm>
          <a:custGeom>
            <a:avLst/>
            <a:gdLst/>
            <a:ahLst/>
            <a:cxnLst/>
            <a:rect l="l" t="t" r="r" b="b"/>
            <a:pathLst>
              <a:path w="8809549" h="8505219">
                <a:moveTo>
                  <a:pt x="0" y="0"/>
                </a:moveTo>
                <a:lnTo>
                  <a:pt x="8809548" y="0"/>
                </a:lnTo>
                <a:lnTo>
                  <a:pt x="8809548" y="8505219"/>
                </a:lnTo>
                <a:lnTo>
                  <a:pt x="0" y="85052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20454" y="3795192"/>
            <a:ext cx="7319779" cy="2957449"/>
          </a:xfrm>
          <a:prstGeom prst="rect">
            <a:avLst/>
          </a:prstGeom>
        </p:spPr>
        <p:txBody>
          <a:bodyPr lIns="0" tIns="0" rIns="0" bIns="0" rtlCol="0" anchor="t">
            <a:spAutoFit/>
          </a:bodyPr>
          <a:lstStyle/>
          <a:p>
            <a:pPr algn="ctr">
              <a:lnSpc>
                <a:spcPts val="7807"/>
              </a:lnSpc>
            </a:pPr>
            <a:r>
              <a:rPr lang="en-US" sz="6099" b="1">
                <a:solidFill>
                  <a:srgbClr val="75FF82"/>
                </a:solidFill>
                <a:latin typeface="Cardo Bold"/>
                <a:ea typeface="Cardo Bold"/>
                <a:cs typeface="Cardo Bold"/>
                <a:sym typeface="Cardo Bold"/>
              </a:rPr>
              <a:t>Problem Statement</a:t>
            </a:r>
          </a:p>
          <a:p>
            <a:pPr algn="ctr">
              <a:lnSpc>
                <a:spcPts val="7807"/>
              </a:lnSpc>
            </a:pPr>
            <a:r>
              <a:rPr lang="en-US" sz="6099" b="1">
                <a:solidFill>
                  <a:srgbClr val="75FF82"/>
                </a:solidFill>
                <a:latin typeface="Cardo Bold"/>
                <a:ea typeface="Cardo Bold"/>
                <a:cs typeface="Cardo Bold"/>
                <a:sym typeface="Cardo Bold"/>
              </a:rPr>
              <a:t> &amp;</a:t>
            </a:r>
          </a:p>
          <a:p>
            <a:pPr algn="ctr">
              <a:lnSpc>
                <a:spcPts val="7807"/>
              </a:lnSpc>
            </a:pPr>
            <a:r>
              <a:rPr lang="en-US" sz="6099" b="1">
                <a:solidFill>
                  <a:srgbClr val="75FF82"/>
                </a:solidFill>
                <a:latin typeface="Cardo Bold"/>
                <a:ea typeface="Cardo Bold"/>
                <a:cs typeface="Cardo Bold"/>
                <a:sym typeface="Cardo Bold"/>
              </a:rPr>
              <a:t> Business Objective</a:t>
            </a:r>
          </a:p>
        </p:txBody>
      </p:sp>
      <p:sp>
        <p:nvSpPr>
          <p:cNvPr id="7" name="TextBox 7"/>
          <p:cNvSpPr txBox="1"/>
          <p:nvPr/>
        </p:nvSpPr>
        <p:spPr>
          <a:xfrm>
            <a:off x="8200602" y="713424"/>
            <a:ext cx="4296198" cy="569387"/>
          </a:xfrm>
          <a:prstGeom prst="rect">
            <a:avLst/>
          </a:prstGeom>
        </p:spPr>
        <p:txBody>
          <a:bodyPr wrap="square" lIns="0" tIns="0" rIns="0" bIns="0" rtlCol="0" anchor="t">
            <a:spAutoFit/>
          </a:bodyPr>
          <a:lstStyle/>
          <a:p>
            <a:pPr algn="ctr">
              <a:lnSpc>
                <a:spcPts val="4620"/>
              </a:lnSpc>
            </a:pPr>
            <a:r>
              <a:rPr lang="en-US" sz="3300" b="1" u="sng" dirty="0">
                <a:solidFill>
                  <a:srgbClr val="000000"/>
                </a:solidFill>
                <a:latin typeface="Cardo Bold"/>
                <a:ea typeface="Cardo Bold"/>
                <a:cs typeface="Cardo Bold"/>
                <a:sym typeface="Cardo Bold"/>
              </a:rPr>
              <a:t>Problem Statement</a:t>
            </a:r>
            <a:r>
              <a:rPr lang="en-US" sz="3300" b="1" dirty="0">
                <a:solidFill>
                  <a:srgbClr val="000000"/>
                </a:solidFill>
                <a:latin typeface="Cardo Bold"/>
                <a:ea typeface="Cardo Bold"/>
                <a:cs typeface="Cardo Bold"/>
                <a:sym typeface="Cardo Bold"/>
              </a:rPr>
              <a:t>:</a:t>
            </a:r>
          </a:p>
        </p:txBody>
      </p:sp>
      <p:sp>
        <p:nvSpPr>
          <p:cNvPr id="8" name="TextBox 8"/>
          <p:cNvSpPr txBox="1"/>
          <p:nvPr/>
        </p:nvSpPr>
        <p:spPr>
          <a:xfrm>
            <a:off x="8200602" y="5434757"/>
            <a:ext cx="4143798" cy="569387"/>
          </a:xfrm>
          <a:prstGeom prst="rect">
            <a:avLst/>
          </a:prstGeom>
        </p:spPr>
        <p:txBody>
          <a:bodyPr wrap="square" lIns="0" tIns="0" rIns="0" bIns="0" rtlCol="0" anchor="t">
            <a:spAutoFit/>
          </a:bodyPr>
          <a:lstStyle/>
          <a:p>
            <a:pPr algn="ctr">
              <a:lnSpc>
                <a:spcPts val="4620"/>
              </a:lnSpc>
            </a:pPr>
            <a:r>
              <a:rPr lang="en-US" sz="3300" b="1" u="sng" dirty="0">
                <a:solidFill>
                  <a:srgbClr val="000000"/>
                </a:solidFill>
                <a:latin typeface="Cardo Bold"/>
                <a:ea typeface="Cardo Bold"/>
                <a:cs typeface="Cardo Bold"/>
                <a:sym typeface="Cardo Bold"/>
              </a:rPr>
              <a:t>Business Objective</a:t>
            </a:r>
            <a:r>
              <a:rPr lang="en-US" sz="3300" b="1" dirty="0">
                <a:solidFill>
                  <a:srgbClr val="000000"/>
                </a:solidFill>
                <a:latin typeface="Cardo Bold"/>
                <a:ea typeface="Cardo Bold"/>
                <a:cs typeface="Cardo Bold"/>
                <a:sym typeface="Cardo Bold"/>
              </a:rPr>
              <a:t>:</a:t>
            </a:r>
          </a:p>
        </p:txBody>
      </p:sp>
      <p:sp>
        <p:nvSpPr>
          <p:cNvPr id="9" name="TextBox 9"/>
          <p:cNvSpPr txBox="1"/>
          <p:nvPr/>
        </p:nvSpPr>
        <p:spPr>
          <a:xfrm>
            <a:off x="8200651" y="6065311"/>
            <a:ext cx="8429765" cy="3798570"/>
          </a:xfrm>
          <a:prstGeom prst="rect">
            <a:avLst/>
          </a:prstGeom>
        </p:spPr>
        <p:txBody>
          <a:bodyPr lIns="0" tIns="0" rIns="0" bIns="0" rtlCol="0" anchor="t">
            <a:spAutoFit/>
          </a:bodyPr>
          <a:lstStyle/>
          <a:p>
            <a:pPr marL="582933" lvl="1" indent="-291467" algn="l">
              <a:lnSpc>
                <a:spcPts val="3780"/>
              </a:lnSpc>
              <a:buFont typeface="Arial"/>
              <a:buChar char="•"/>
            </a:pPr>
            <a:r>
              <a:rPr lang="en-US" sz="2700">
                <a:solidFill>
                  <a:srgbClr val="000000"/>
                </a:solidFill>
                <a:latin typeface="Alice"/>
                <a:ea typeface="Alice"/>
                <a:cs typeface="Alice"/>
                <a:sym typeface="Alice"/>
              </a:rPr>
              <a:t>To develop a predictive model that forecasts Apple stock prices for the next 30 days.</a:t>
            </a:r>
          </a:p>
          <a:p>
            <a:pPr marL="582933" lvl="1" indent="-291467" algn="l">
              <a:lnSpc>
                <a:spcPts val="3780"/>
              </a:lnSpc>
              <a:buFont typeface="Arial"/>
              <a:buChar char="•"/>
            </a:pPr>
            <a:r>
              <a:rPr lang="en-US" sz="2700">
                <a:solidFill>
                  <a:srgbClr val="000000"/>
                </a:solidFill>
                <a:latin typeface="Alice"/>
                <a:ea typeface="Alice"/>
                <a:cs typeface="Alice"/>
                <a:sym typeface="Alice"/>
              </a:rPr>
              <a:t>To analyze historical stock data from 2012 to 2019.</a:t>
            </a:r>
          </a:p>
          <a:p>
            <a:pPr marL="582933" lvl="1" indent="-291467" algn="l">
              <a:lnSpc>
                <a:spcPts val="3780"/>
              </a:lnSpc>
              <a:buFont typeface="Arial"/>
              <a:buChar char="•"/>
            </a:pPr>
            <a:r>
              <a:rPr lang="en-US" sz="2700">
                <a:solidFill>
                  <a:srgbClr val="000000"/>
                </a:solidFill>
                <a:latin typeface="Alice"/>
                <a:ea typeface="Alice"/>
                <a:cs typeface="Alice"/>
                <a:sym typeface="Alice"/>
              </a:rPr>
              <a:t>To compare different time series models and select the best-performing one.</a:t>
            </a:r>
          </a:p>
          <a:p>
            <a:pPr marL="582933" lvl="1" indent="-291467" algn="l">
              <a:lnSpc>
                <a:spcPts val="3780"/>
              </a:lnSpc>
              <a:buFont typeface="Arial"/>
              <a:buChar char="•"/>
            </a:pPr>
            <a:r>
              <a:rPr lang="en-US" sz="2700">
                <a:solidFill>
                  <a:srgbClr val="000000"/>
                </a:solidFill>
                <a:latin typeface="Alice"/>
                <a:ea typeface="Alice"/>
                <a:cs typeface="Alice"/>
                <a:sym typeface="Alice"/>
              </a:rPr>
              <a:t>To deploy the final model as a user-friendly web application for real-time forecasting.</a:t>
            </a:r>
          </a:p>
          <a:p>
            <a:pPr algn="l">
              <a:lnSpc>
                <a:spcPts val="3780"/>
              </a:lnSpc>
            </a:pPr>
            <a:endParaRPr lang="en-US" sz="2700">
              <a:solidFill>
                <a:srgbClr val="000000"/>
              </a:solidFill>
              <a:latin typeface="Alice"/>
              <a:ea typeface="Alice"/>
              <a:cs typeface="Alice"/>
              <a:sym typeface="Alice"/>
            </a:endParaRPr>
          </a:p>
        </p:txBody>
      </p:sp>
      <p:sp>
        <p:nvSpPr>
          <p:cNvPr id="10" name="TextBox 10"/>
          <p:cNvSpPr txBox="1"/>
          <p:nvPr/>
        </p:nvSpPr>
        <p:spPr>
          <a:xfrm>
            <a:off x="8200651" y="1344930"/>
            <a:ext cx="9382794" cy="3798570"/>
          </a:xfrm>
          <a:prstGeom prst="rect">
            <a:avLst/>
          </a:prstGeom>
        </p:spPr>
        <p:txBody>
          <a:bodyPr lIns="0" tIns="0" rIns="0" bIns="0" rtlCol="0" anchor="t">
            <a:spAutoFit/>
          </a:bodyPr>
          <a:lstStyle/>
          <a:p>
            <a:pPr marL="582933" lvl="1" indent="-291467" algn="l">
              <a:lnSpc>
                <a:spcPts val="3780"/>
              </a:lnSpc>
              <a:buFont typeface="Arial"/>
              <a:buChar char="•"/>
            </a:pPr>
            <a:r>
              <a:rPr lang="en-US" sz="2700">
                <a:solidFill>
                  <a:srgbClr val="000000"/>
                </a:solidFill>
                <a:latin typeface="Alice"/>
                <a:ea typeface="Alice"/>
                <a:cs typeface="Alice"/>
                <a:sym typeface="Alice"/>
              </a:rPr>
              <a:t>Stock market prices are highly volatile and influenced by multiple internal and external factors.</a:t>
            </a:r>
          </a:p>
          <a:p>
            <a:pPr marL="582933" lvl="1" indent="-291467" algn="l">
              <a:lnSpc>
                <a:spcPts val="3780"/>
              </a:lnSpc>
              <a:buFont typeface="Arial"/>
              <a:buChar char="•"/>
            </a:pPr>
            <a:r>
              <a:rPr lang="en-US" sz="2700">
                <a:solidFill>
                  <a:srgbClr val="000000"/>
                </a:solidFill>
                <a:latin typeface="Alice"/>
                <a:ea typeface="Alice"/>
                <a:cs typeface="Alice"/>
                <a:sym typeface="Alice"/>
              </a:rPr>
              <a:t>Predicting future stock prices accurately is challenging for investors and financial analysts.</a:t>
            </a:r>
          </a:p>
          <a:p>
            <a:pPr marL="582933" lvl="1" indent="-291467" algn="l">
              <a:lnSpc>
                <a:spcPts val="3780"/>
              </a:lnSpc>
              <a:buFont typeface="Arial"/>
              <a:buChar char="•"/>
            </a:pPr>
            <a:r>
              <a:rPr lang="en-US" sz="2700">
                <a:solidFill>
                  <a:srgbClr val="000000"/>
                </a:solidFill>
                <a:latin typeface="Alice"/>
                <a:ea typeface="Alice"/>
                <a:cs typeface="Alice"/>
                <a:sym typeface="Alice"/>
              </a:rPr>
              <a:t>Traditional decision-making approaches may lead to financial risks.</a:t>
            </a:r>
          </a:p>
          <a:p>
            <a:pPr marL="582933" lvl="1" indent="-291467" algn="l">
              <a:lnSpc>
                <a:spcPts val="3780"/>
              </a:lnSpc>
              <a:buFont typeface="Arial"/>
              <a:buChar char="•"/>
            </a:pPr>
            <a:r>
              <a:rPr lang="en-US" sz="2700">
                <a:solidFill>
                  <a:srgbClr val="000000"/>
                </a:solidFill>
                <a:latin typeface="Alice"/>
                <a:ea typeface="Alice"/>
                <a:cs typeface="Alice"/>
                <a:sym typeface="Alice"/>
              </a:rPr>
              <a:t>There is a need for a reliable forecasting system to support data-driven investment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2" name="Freeform 2"/>
          <p:cNvSpPr/>
          <p:nvPr/>
        </p:nvSpPr>
        <p:spPr>
          <a:xfrm>
            <a:off x="7066167" y="2265666"/>
            <a:ext cx="4155667" cy="6384404"/>
          </a:xfrm>
          <a:custGeom>
            <a:avLst/>
            <a:gdLst/>
            <a:ahLst/>
            <a:cxnLst/>
            <a:rect l="l" t="t" r="r" b="b"/>
            <a:pathLst>
              <a:path w="4155667" h="6384404">
                <a:moveTo>
                  <a:pt x="0" y="0"/>
                </a:moveTo>
                <a:lnTo>
                  <a:pt x="4155666" y="0"/>
                </a:lnTo>
                <a:lnTo>
                  <a:pt x="4155666" y="6384404"/>
                </a:lnTo>
                <a:lnTo>
                  <a:pt x="0" y="63844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46069" y="6765350"/>
            <a:ext cx="6438031" cy="2741193"/>
          </a:xfrm>
          <a:custGeom>
            <a:avLst/>
            <a:gdLst/>
            <a:ahLst/>
            <a:cxnLst/>
            <a:rect l="l" t="t" r="r" b="b"/>
            <a:pathLst>
              <a:path w="6438031" h="2741193">
                <a:moveTo>
                  <a:pt x="0" y="0"/>
                </a:moveTo>
                <a:lnTo>
                  <a:pt x="6438032" y="0"/>
                </a:lnTo>
                <a:lnTo>
                  <a:pt x="6438032" y="2741193"/>
                </a:lnTo>
                <a:lnTo>
                  <a:pt x="0" y="2741193"/>
                </a:lnTo>
                <a:lnTo>
                  <a:pt x="0" y="0"/>
                </a:lnTo>
                <a:close/>
              </a:path>
            </a:pathLst>
          </a:custGeom>
          <a:blipFill>
            <a:blip r:embed="rId4"/>
            <a:stretch>
              <a:fillRect/>
            </a:stretch>
          </a:blipFill>
        </p:spPr>
      </p:sp>
      <p:sp>
        <p:nvSpPr>
          <p:cNvPr id="4" name="TextBox 4"/>
          <p:cNvSpPr txBox="1"/>
          <p:nvPr/>
        </p:nvSpPr>
        <p:spPr>
          <a:xfrm>
            <a:off x="692021" y="631615"/>
            <a:ext cx="4978783" cy="717971"/>
          </a:xfrm>
          <a:prstGeom prst="rect">
            <a:avLst/>
          </a:prstGeom>
        </p:spPr>
        <p:txBody>
          <a:bodyPr lIns="0" tIns="0" rIns="0" bIns="0" rtlCol="0" anchor="t">
            <a:spAutoFit/>
          </a:bodyPr>
          <a:lstStyle/>
          <a:p>
            <a:pPr algn="l">
              <a:lnSpc>
                <a:spcPts val="5941"/>
              </a:lnSpc>
            </a:pPr>
            <a:r>
              <a:rPr lang="en-US" sz="4244">
                <a:solidFill>
                  <a:srgbClr val="75FF82"/>
                </a:solidFill>
                <a:latin typeface="TT Hoves"/>
                <a:ea typeface="TT Hoves"/>
                <a:cs typeface="TT Hoves"/>
                <a:sym typeface="TT Hoves"/>
              </a:rPr>
              <a:t>Dataset Overview:</a:t>
            </a:r>
          </a:p>
        </p:txBody>
      </p:sp>
      <p:sp>
        <p:nvSpPr>
          <p:cNvPr id="5" name="TextBox 5"/>
          <p:cNvSpPr txBox="1"/>
          <p:nvPr/>
        </p:nvSpPr>
        <p:spPr>
          <a:xfrm>
            <a:off x="459954" y="1631420"/>
            <a:ext cx="5630713" cy="3173095"/>
          </a:xfrm>
          <a:prstGeom prst="rect">
            <a:avLst/>
          </a:prstGeom>
        </p:spPr>
        <p:txBody>
          <a:bodyPr lIns="0" tIns="0" rIns="0" bIns="0" rtlCol="0" anchor="t">
            <a:spAutoFit/>
          </a:bodyPr>
          <a:lstStyle/>
          <a:p>
            <a:pPr marL="496569" lvl="1" indent="-248284" algn="l">
              <a:lnSpc>
                <a:spcPts val="3219"/>
              </a:lnSpc>
              <a:buFont typeface="Arial"/>
              <a:buChar char="•"/>
            </a:pPr>
            <a:r>
              <a:rPr lang="en-US" sz="2299">
                <a:solidFill>
                  <a:srgbClr val="FFFFFF"/>
                </a:solidFill>
                <a:latin typeface="TT Hoves"/>
                <a:ea typeface="TT Hoves"/>
                <a:cs typeface="TT Hoves"/>
                <a:sym typeface="TT Hoves"/>
              </a:rPr>
              <a:t>Dataset: Historical Apple stock price data</a:t>
            </a:r>
          </a:p>
          <a:p>
            <a:pPr marL="496569" lvl="1" indent="-248284" algn="l">
              <a:lnSpc>
                <a:spcPts val="3219"/>
              </a:lnSpc>
              <a:buFont typeface="Arial"/>
              <a:buChar char="•"/>
            </a:pPr>
            <a:r>
              <a:rPr lang="en-US" sz="2299">
                <a:solidFill>
                  <a:srgbClr val="FFFFFF"/>
                </a:solidFill>
                <a:latin typeface="TT Hoves"/>
                <a:ea typeface="TT Hoves"/>
                <a:cs typeface="TT Hoves"/>
                <a:sym typeface="TT Hoves"/>
              </a:rPr>
              <a:t>Time Period: 2012 – 2019</a:t>
            </a:r>
          </a:p>
          <a:p>
            <a:pPr marL="496569" lvl="1" indent="-248284" algn="l">
              <a:lnSpc>
                <a:spcPts val="3219"/>
              </a:lnSpc>
              <a:buFont typeface="Arial"/>
              <a:buChar char="•"/>
            </a:pPr>
            <a:r>
              <a:rPr lang="en-US" sz="2299">
                <a:solidFill>
                  <a:srgbClr val="FFFFFF"/>
                </a:solidFill>
                <a:latin typeface="TT Hoves"/>
                <a:ea typeface="TT Hoves"/>
                <a:cs typeface="TT Hoves"/>
                <a:sym typeface="TT Hoves"/>
              </a:rPr>
              <a:t>Each record represents the trading activity of a single day.</a:t>
            </a:r>
          </a:p>
          <a:p>
            <a:pPr marL="496569" lvl="1" indent="-248284" algn="l">
              <a:lnSpc>
                <a:spcPts val="3219"/>
              </a:lnSpc>
              <a:buFont typeface="Arial"/>
              <a:buChar char="•"/>
            </a:pPr>
            <a:r>
              <a:rPr lang="en-US" sz="2299">
                <a:solidFill>
                  <a:srgbClr val="FFFFFF"/>
                </a:solidFill>
                <a:latin typeface="TT Hoves"/>
                <a:ea typeface="TT Hoves"/>
                <a:cs typeface="TT Hoves"/>
                <a:sym typeface="TT Hoves"/>
              </a:rPr>
              <a:t>It allows analysis of seasonality, volatility, and price patterns</a:t>
            </a:r>
          </a:p>
          <a:p>
            <a:pPr algn="l">
              <a:lnSpc>
                <a:spcPts val="2940"/>
              </a:lnSpc>
            </a:pPr>
            <a:endParaRPr lang="en-US" sz="2299">
              <a:solidFill>
                <a:srgbClr val="FFFFFF"/>
              </a:solidFill>
              <a:latin typeface="TT Hoves"/>
              <a:ea typeface="TT Hoves"/>
              <a:cs typeface="TT Hoves"/>
              <a:sym typeface="TT Hoves"/>
            </a:endParaRPr>
          </a:p>
        </p:txBody>
      </p:sp>
      <p:sp>
        <p:nvSpPr>
          <p:cNvPr id="6" name="TextBox 6"/>
          <p:cNvSpPr txBox="1"/>
          <p:nvPr/>
        </p:nvSpPr>
        <p:spPr>
          <a:xfrm>
            <a:off x="13729568" y="1899906"/>
            <a:ext cx="4959434" cy="365760"/>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 Trading date</a:t>
            </a:r>
          </a:p>
        </p:txBody>
      </p:sp>
      <p:sp>
        <p:nvSpPr>
          <p:cNvPr id="7" name="TextBox 7"/>
          <p:cNvSpPr txBox="1"/>
          <p:nvPr/>
        </p:nvSpPr>
        <p:spPr>
          <a:xfrm>
            <a:off x="11964783" y="1843391"/>
            <a:ext cx="4290233"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Date     :</a:t>
            </a:r>
          </a:p>
        </p:txBody>
      </p:sp>
      <p:sp>
        <p:nvSpPr>
          <p:cNvPr id="8" name="TextBox 8"/>
          <p:cNvSpPr txBox="1"/>
          <p:nvPr/>
        </p:nvSpPr>
        <p:spPr>
          <a:xfrm>
            <a:off x="13729568" y="2471480"/>
            <a:ext cx="4112902" cy="737235"/>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Opening price of the stock on that day</a:t>
            </a:r>
          </a:p>
        </p:txBody>
      </p:sp>
      <p:sp>
        <p:nvSpPr>
          <p:cNvPr id="9" name="TextBox 9"/>
          <p:cNvSpPr txBox="1"/>
          <p:nvPr/>
        </p:nvSpPr>
        <p:spPr>
          <a:xfrm>
            <a:off x="11964783" y="2441635"/>
            <a:ext cx="2856232"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Open   :</a:t>
            </a:r>
          </a:p>
        </p:txBody>
      </p:sp>
      <p:sp>
        <p:nvSpPr>
          <p:cNvPr id="10" name="TextBox 10"/>
          <p:cNvSpPr txBox="1"/>
          <p:nvPr/>
        </p:nvSpPr>
        <p:spPr>
          <a:xfrm>
            <a:off x="13729568" y="3418265"/>
            <a:ext cx="4202597" cy="737235"/>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Highest price reached during the    day</a:t>
            </a:r>
          </a:p>
        </p:txBody>
      </p:sp>
      <p:sp>
        <p:nvSpPr>
          <p:cNvPr id="11" name="TextBox 11"/>
          <p:cNvSpPr txBox="1"/>
          <p:nvPr/>
        </p:nvSpPr>
        <p:spPr>
          <a:xfrm>
            <a:off x="11965266" y="3372862"/>
            <a:ext cx="4959434"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High     :</a:t>
            </a:r>
          </a:p>
        </p:txBody>
      </p:sp>
      <p:sp>
        <p:nvSpPr>
          <p:cNvPr id="12" name="TextBox 12"/>
          <p:cNvSpPr txBox="1"/>
          <p:nvPr/>
        </p:nvSpPr>
        <p:spPr>
          <a:xfrm>
            <a:off x="13729568" y="4296470"/>
            <a:ext cx="4290233" cy="737235"/>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Lowest price reached during the day</a:t>
            </a:r>
          </a:p>
        </p:txBody>
      </p:sp>
      <p:sp>
        <p:nvSpPr>
          <p:cNvPr id="13" name="TextBox 13"/>
          <p:cNvSpPr txBox="1"/>
          <p:nvPr/>
        </p:nvSpPr>
        <p:spPr>
          <a:xfrm>
            <a:off x="11965367" y="4225452"/>
            <a:ext cx="4290233"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Low      : </a:t>
            </a:r>
          </a:p>
        </p:txBody>
      </p:sp>
      <p:sp>
        <p:nvSpPr>
          <p:cNvPr id="14" name="TextBox 14"/>
          <p:cNvSpPr txBox="1"/>
          <p:nvPr/>
        </p:nvSpPr>
        <p:spPr>
          <a:xfrm>
            <a:off x="6684101" y="4248845"/>
            <a:ext cx="4919316" cy="1898650"/>
          </a:xfrm>
          <a:prstGeom prst="rect">
            <a:avLst/>
          </a:prstGeom>
        </p:spPr>
        <p:txBody>
          <a:bodyPr lIns="0" tIns="0" rIns="0" bIns="0" rtlCol="0" anchor="t">
            <a:spAutoFit/>
          </a:bodyPr>
          <a:lstStyle/>
          <a:p>
            <a:pPr algn="ctr">
              <a:lnSpc>
                <a:spcPts val="7699"/>
              </a:lnSpc>
            </a:pPr>
            <a:r>
              <a:rPr lang="en-US" sz="5499" b="1">
                <a:gradFill>
                  <a:gsLst>
                    <a:gs pos="0">
                      <a:srgbClr val="08FF02">
                        <a:alpha val="100000"/>
                      </a:srgbClr>
                    </a:gs>
                    <a:gs pos="50000">
                      <a:srgbClr val="2FBC63">
                        <a:alpha val="100000"/>
                      </a:srgbClr>
                    </a:gs>
                    <a:gs pos="100000">
                      <a:srgbClr val="1CFF00">
                        <a:alpha val="100000"/>
                      </a:srgbClr>
                    </a:gs>
                  </a:gsLst>
                  <a:path path="circle">
                    <a:fillToRect r="100000" b="100000"/>
                  </a:path>
                  <a:tileRect l="-100000" t="-100000"/>
                </a:gradFill>
                <a:latin typeface="Canva Sans Bold"/>
                <a:ea typeface="Canva Sans Bold"/>
                <a:cs typeface="Canva Sans Bold"/>
                <a:sym typeface="Canva Sans Bold"/>
              </a:rPr>
              <a:t>Dataset     Description</a:t>
            </a:r>
          </a:p>
        </p:txBody>
      </p:sp>
      <p:sp>
        <p:nvSpPr>
          <p:cNvPr id="15" name="TextBox 15"/>
          <p:cNvSpPr txBox="1"/>
          <p:nvPr/>
        </p:nvSpPr>
        <p:spPr>
          <a:xfrm>
            <a:off x="11964783" y="6804720"/>
            <a:ext cx="5630713" cy="688974"/>
          </a:xfrm>
          <a:prstGeom prst="rect">
            <a:avLst/>
          </a:prstGeom>
        </p:spPr>
        <p:txBody>
          <a:bodyPr lIns="0" tIns="0" rIns="0" bIns="0" rtlCol="0" anchor="t">
            <a:spAutoFit/>
          </a:bodyPr>
          <a:lstStyle/>
          <a:p>
            <a:pPr algn="l">
              <a:lnSpc>
                <a:spcPts val="5600"/>
              </a:lnSpc>
            </a:pPr>
            <a:r>
              <a:rPr lang="en-US" sz="4000">
                <a:solidFill>
                  <a:srgbClr val="75FF82"/>
                </a:solidFill>
                <a:latin typeface="TT Hoves"/>
                <a:ea typeface="TT Hoves"/>
                <a:cs typeface="TT Hoves"/>
                <a:sym typeface="TT Hoves"/>
              </a:rPr>
              <a:t>Target Variable:</a:t>
            </a:r>
          </a:p>
        </p:txBody>
      </p:sp>
      <p:sp>
        <p:nvSpPr>
          <p:cNvPr id="16" name="TextBox 16"/>
          <p:cNvSpPr txBox="1"/>
          <p:nvPr/>
        </p:nvSpPr>
        <p:spPr>
          <a:xfrm>
            <a:off x="11668990" y="7840078"/>
            <a:ext cx="5926507" cy="12985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FFFFFF"/>
                </a:solidFill>
                <a:latin typeface="TT Hoves"/>
                <a:ea typeface="TT Hoves"/>
                <a:cs typeface="TT Hoves"/>
                <a:sym typeface="TT Hoves"/>
              </a:rPr>
              <a:t>The primary target variable is the Closing Price, which is forecasted for the next 30 days.</a:t>
            </a:r>
          </a:p>
        </p:txBody>
      </p:sp>
      <p:sp>
        <p:nvSpPr>
          <p:cNvPr id="17" name="TextBox 17"/>
          <p:cNvSpPr txBox="1"/>
          <p:nvPr/>
        </p:nvSpPr>
        <p:spPr>
          <a:xfrm>
            <a:off x="11965367" y="5035593"/>
            <a:ext cx="4290233"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Close   :</a:t>
            </a:r>
          </a:p>
        </p:txBody>
      </p:sp>
      <p:sp>
        <p:nvSpPr>
          <p:cNvPr id="18" name="TextBox 18"/>
          <p:cNvSpPr txBox="1"/>
          <p:nvPr/>
        </p:nvSpPr>
        <p:spPr>
          <a:xfrm>
            <a:off x="13729568" y="5100380"/>
            <a:ext cx="4290233" cy="365760"/>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Closing price of the stock</a:t>
            </a:r>
          </a:p>
        </p:txBody>
      </p:sp>
      <p:sp>
        <p:nvSpPr>
          <p:cNvPr id="19" name="TextBox 19"/>
          <p:cNvSpPr txBox="1"/>
          <p:nvPr/>
        </p:nvSpPr>
        <p:spPr>
          <a:xfrm>
            <a:off x="11965367" y="5725220"/>
            <a:ext cx="4290233" cy="422275"/>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75FF82"/>
                </a:solidFill>
                <a:latin typeface="TT Hoves"/>
                <a:ea typeface="TT Hoves"/>
                <a:cs typeface="TT Hoves"/>
                <a:sym typeface="TT Hoves"/>
              </a:rPr>
              <a:t>Volume: </a:t>
            </a:r>
          </a:p>
        </p:txBody>
      </p:sp>
      <p:sp>
        <p:nvSpPr>
          <p:cNvPr id="20" name="TextBox 20"/>
          <p:cNvSpPr txBox="1"/>
          <p:nvPr/>
        </p:nvSpPr>
        <p:spPr>
          <a:xfrm>
            <a:off x="13728529" y="5725220"/>
            <a:ext cx="4290233" cy="365760"/>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Number of shares traded</a:t>
            </a:r>
          </a:p>
        </p:txBody>
      </p:sp>
      <p:sp>
        <p:nvSpPr>
          <p:cNvPr id="21" name="TextBox 21"/>
          <p:cNvSpPr txBox="1"/>
          <p:nvPr/>
        </p:nvSpPr>
        <p:spPr>
          <a:xfrm>
            <a:off x="692021" y="4752254"/>
            <a:ext cx="4978783" cy="713886"/>
          </a:xfrm>
          <a:prstGeom prst="rect">
            <a:avLst/>
          </a:prstGeom>
        </p:spPr>
        <p:txBody>
          <a:bodyPr lIns="0" tIns="0" rIns="0" bIns="0" rtlCol="0" anchor="t">
            <a:spAutoFit/>
          </a:bodyPr>
          <a:lstStyle/>
          <a:p>
            <a:pPr algn="l">
              <a:lnSpc>
                <a:spcPts val="5801"/>
              </a:lnSpc>
            </a:pPr>
            <a:r>
              <a:rPr lang="en-US" sz="4144">
                <a:solidFill>
                  <a:srgbClr val="75FF82"/>
                </a:solidFill>
                <a:latin typeface="TT Hoves"/>
                <a:ea typeface="TT Hoves"/>
                <a:cs typeface="TT Hoves"/>
                <a:sym typeface="TT Hoves"/>
              </a:rPr>
              <a:t>Dataset Size:</a:t>
            </a:r>
          </a:p>
        </p:txBody>
      </p:sp>
      <p:sp>
        <p:nvSpPr>
          <p:cNvPr id="22" name="TextBox 22"/>
          <p:cNvSpPr txBox="1"/>
          <p:nvPr/>
        </p:nvSpPr>
        <p:spPr>
          <a:xfrm>
            <a:off x="459954" y="5581710"/>
            <a:ext cx="5630713" cy="1145540"/>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FFFFFF"/>
                </a:solidFill>
                <a:latin typeface="TT Hoves"/>
                <a:ea typeface="TT Hoves"/>
                <a:cs typeface="TT Hoves"/>
                <a:sym typeface="TT Hoves"/>
              </a:rPr>
              <a:t>Number of rows        :   07</a:t>
            </a:r>
          </a:p>
          <a:p>
            <a:pPr marL="474979" lvl="1" indent="-237490" algn="l">
              <a:lnSpc>
                <a:spcPts val="3079"/>
              </a:lnSpc>
              <a:buFont typeface="Arial"/>
              <a:buChar char="•"/>
            </a:pPr>
            <a:r>
              <a:rPr lang="en-US" sz="2199">
                <a:solidFill>
                  <a:srgbClr val="FFFFFF"/>
                </a:solidFill>
                <a:latin typeface="TT Hoves"/>
                <a:ea typeface="TT Hoves"/>
                <a:cs typeface="TT Hoves"/>
                <a:sym typeface="TT Hoves"/>
              </a:rPr>
              <a:t>Number of columns :   2011</a:t>
            </a:r>
          </a:p>
          <a:p>
            <a:pPr algn="l">
              <a:lnSpc>
                <a:spcPts val="2940"/>
              </a:lnSpc>
            </a:pPr>
            <a:endParaRPr lang="en-US" sz="2199">
              <a:solidFill>
                <a:srgbClr val="FFFFFF"/>
              </a:solidFill>
              <a:latin typeface="TT Hoves"/>
              <a:ea typeface="TT Hoves"/>
              <a:cs typeface="TT Hoves"/>
              <a:sym typeface="TT Hov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2" name="Freeform 2"/>
          <p:cNvSpPr/>
          <p:nvPr/>
        </p:nvSpPr>
        <p:spPr>
          <a:xfrm>
            <a:off x="5541574" y="9258300"/>
            <a:ext cx="6005824" cy="622422"/>
          </a:xfrm>
          <a:custGeom>
            <a:avLst/>
            <a:gdLst/>
            <a:ahLst/>
            <a:cxnLst/>
            <a:rect l="l" t="t" r="r" b="b"/>
            <a:pathLst>
              <a:path w="6005824" h="622422">
                <a:moveTo>
                  <a:pt x="0" y="0"/>
                </a:moveTo>
                <a:lnTo>
                  <a:pt x="6005823" y="0"/>
                </a:lnTo>
                <a:lnTo>
                  <a:pt x="6005823" y="622422"/>
                </a:lnTo>
                <a:lnTo>
                  <a:pt x="0" y="6224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830477" y="2924508"/>
            <a:ext cx="6853757" cy="5557694"/>
          </a:xfrm>
          <a:custGeom>
            <a:avLst/>
            <a:gdLst/>
            <a:ahLst/>
            <a:cxnLst/>
            <a:rect l="l" t="t" r="r" b="b"/>
            <a:pathLst>
              <a:path w="6853757" h="5557694">
                <a:moveTo>
                  <a:pt x="0" y="0"/>
                </a:moveTo>
                <a:lnTo>
                  <a:pt x="6853757" y="0"/>
                </a:lnTo>
                <a:lnTo>
                  <a:pt x="6853757" y="5557693"/>
                </a:lnTo>
                <a:lnTo>
                  <a:pt x="0" y="5557693"/>
                </a:lnTo>
                <a:lnTo>
                  <a:pt x="0" y="0"/>
                </a:lnTo>
                <a:close/>
              </a:path>
            </a:pathLst>
          </a:custGeom>
          <a:blipFill>
            <a:blip r:embed="rId4"/>
            <a:stretch>
              <a:fillRect/>
            </a:stretch>
          </a:blipFill>
        </p:spPr>
      </p:sp>
      <p:sp>
        <p:nvSpPr>
          <p:cNvPr id="4" name="TextBox 4"/>
          <p:cNvSpPr txBox="1"/>
          <p:nvPr/>
        </p:nvSpPr>
        <p:spPr>
          <a:xfrm>
            <a:off x="3859757" y="570547"/>
            <a:ext cx="9932443" cy="819199"/>
          </a:xfrm>
          <a:prstGeom prst="rect">
            <a:avLst/>
          </a:prstGeom>
        </p:spPr>
        <p:txBody>
          <a:bodyPr wrap="square" lIns="0" tIns="0" rIns="0" bIns="0" rtlCol="0" anchor="t">
            <a:spAutoFit/>
          </a:bodyPr>
          <a:lstStyle/>
          <a:p>
            <a:pPr algn="l">
              <a:lnSpc>
                <a:spcPts val="6859"/>
              </a:lnSpc>
            </a:pPr>
            <a:r>
              <a:rPr lang="en-US" sz="4899" dirty="0">
                <a:solidFill>
                  <a:srgbClr val="75FF82"/>
                </a:solidFill>
                <a:latin typeface="TT Hoves"/>
                <a:ea typeface="TT Hoves"/>
                <a:cs typeface="TT Hoves"/>
                <a:sym typeface="TT Hoves"/>
              </a:rPr>
              <a:t>Data Preprocessing &amp; Cleaning</a:t>
            </a:r>
          </a:p>
        </p:txBody>
      </p:sp>
      <p:sp>
        <p:nvSpPr>
          <p:cNvPr id="5" name="TextBox 5"/>
          <p:cNvSpPr txBox="1"/>
          <p:nvPr/>
        </p:nvSpPr>
        <p:spPr>
          <a:xfrm>
            <a:off x="690915" y="1859849"/>
            <a:ext cx="7441773" cy="7222491"/>
          </a:xfrm>
          <a:prstGeom prst="rect">
            <a:avLst/>
          </a:prstGeom>
        </p:spPr>
        <p:txBody>
          <a:bodyPr lIns="0" tIns="0" rIns="0" bIns="0" rtlCol="0" anchor="t">
            <a:spAutoFit/>
          </a:bodyPr>
          <a:lstStyle/>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Converted the Date column into datetime format.</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Set the Date column as the index for time series analysis.</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Dataset contains 2011 rows and 7 columns.</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All columns have 2011 non-null values (no missing data).</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Data types include numerical (float, int) and date values.</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Selected Close price as the target variable.</a:t>
            </a:r>
          </a:p>
          <a:p>
            <a:pPr marL="626106" lvl="1" indent="-313053" algn="l">
              <a:lnSpc>
                <a:spcPts val="4059"/>
              </a:lnSpc>
              <a:buFont typeface="Arial"/>
              <a:buChar char="•"/>
            </a:pPr>
            <a:r>
              <a:rPr lang="en-US" sz="2899">
                <a:solidFill>
                  <a:srgbClr val="FFFFFF"/>
                </a:solidFill>
                <a:latin typeface="The Seasons"/>
                <a:ea typeface="The Seasons"/>
                <a:cs typeface="The Seasons"/>
                <a:sym typeface="The Seasons"/>
              </a:rPr>
              <a:t>Applied MinMax Scaling to normalize the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2" name="Freeform 2"/>
          <p:cNvSpPr/>
          <p:nvPr/>
        </p:nvSpPr>
        <p:spPr>
          <a:xfrm>
            <a:off x="0" y="7623098"/>
            <a:ext cx="6599756" cy="2663902"/>
          </a:xfrm>
          <a:custGeom>
            <a:avLst/>
            <a:gdLst/>
            <a:ahLst/>
            <a:cxnLst/>
            <a:rect l="l" t="t" r="r" b="b"/>
            <a:pathLst>
              <a:path w="6599756" h="2663902">
                <a:moveTo>
                  <a:pt x="0" y="0"/>
                </a:moveTo>
                <a:lnTo>
                  <a:pt x="6599756" y="0"/>
                </a:lnTo>
                <a:lnTo>
                  <a:pt x="6599756" y="2663902"/>
                </a:lnTo>
                <a:lnTo>
                  <a:pt x="0" y="2663902"/>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3571803" y="3999674"/>
            <a:ext cx="5469601" cy="904970"/>
          </a:xfrm>
          <a:custGeom>
            <a:avLst/>
            <a:gdLst/>
            <a:ahLst/>
            <a:cxnLst/>
            <a:rect l="l" t="t" r="r" b="b"/>
            <a:pathLst>
              <a:path w="5469601" h="904970">
                <a:moveTo>
                  <a:pt x="0" y="0"/>
                </a:moveTo>
                <a:lnTo>
                  <a:pt x="5469601" y="0"/>
                </a:lnTo>
                <a:lnTo>
                  <a:pt x="5469601" y="904970"/>
                </a:lnTo>
                <a:lnTo>
                  <a:pt x="0" y="90497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
        <p:nvSpPr>
          <p:cNvPr id="4" name="Freeform 4"/>
          <p:cNvSpPr/>
          <p:nvPr/>
        </p:nvSpPr>
        <p:spPr>
          <a:xfrm rot="-507067">
            <a:off x="10533004" y="693957"/>
            <a:ext cx="7042553" cy="7042553"/>
          </a:xfrm>
          <a:custGeom>
            <a:avLst/>
            <a:gdLst/>
            <a:ahLst/>
            <a:cxnLst/>
            <a:rect l="l" t="t" r="r" b="b"/>
            <a:pathLst>
              <a:path w="7042553" h="7042553">
                <a:moveTo>
                  <a:pt x="0" y="0"/>
                </a:moveTo>
                <a:lnTo>
                  <a:pt x="7042553" y="0"/>
                </a:lnTo>
                <a:lnTo>
                  <a:pt x="7042553" y="7042553"/>
                </a:lnTo>
                <a:lnTo>
                  <a:pt x="0" y="70425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943079" y="7070366"/>
            <a:ext cx="4558865" cy="2290830"/>
          </a:xfrm>
          <a:custGeom>
            <a:avLst/>
            <a:gdLst/>
            <a:ahLst/>
            <a:cxnLst/>
            <a:rect l="l" t="t" r="r" b="b"/>
            <a:pathLst>
              <a:path w="4558865" h="2290830">
                <a:moveTo>
                  <a:pt x="0" y="0"/>
                </a:moveTo>
                <a:lnTo>
                  <a:pt x="4558865" y="0"/>
                </a:lnTo>
                <a:lnTo>
                  <a:pt x="4558865" y="2290829"/>
                </a:lnTo>
                <a:lnTo>
                  <a:pt x="0" y="2290829"/>
                </a:lnTo>
                <a:lnTo>
                  <a:pt x="0" y="0"/>
                </a:lnTo>
                <a:close/>
              </a:path>
            </a:pathLst>
          </a:custGeom>
          <a:blipFill>
            <a:blip r:embed="rId8">
              <a:alphaModFix amt="95000"/>
            </a:blip>
            <a:stretch>
              <a:fillRect/>
            </a:stretch>
          </a:blipFill>
        </p:spPr>
      </p:sp>
      <p:sp>
        <p:nvSpPr>
          <p:cNvPr id="6" name="Freeform 6"/>
          <p:cNvSpPr/>
          <p:nvPr/>
        </p:nvSpPr>
        <p:spPr>
          <a:xfrm rot="-5400000">
            <a:off x="9524429" y="6617175"/>
            <a:ext cx="5469601" cy="904970"/>
          </a:xfrm>
          <a:custGeom>
            <a:avLst/>
            <a:gdLst/>
            <a:ahLst/>
            <a:cxnLst/>
            <a:rect l="l" t="t" r="r" b="b"/>
            <a:pathLst>
              <a:path w="5469601" h="904970">
                <a:moveTo>
                  <a:pt x="0" y="0"/>
                </a:moveTo>
                <a:lnTo>
                  <a:pt x="5469601" y="0"/>
                </a:lnTo>
                <a:lnTo>
                  <a:pt x="5469601" y="904971"/>
                </a:lnTo>
                <a:lnTo>
                  <a:pt x="0" y="904971"/>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
        <p:nvSpPr>
          <p:cNvPr id="7" name="Freeform 7"/>
          <p:cNvSpPr/>
          <p:nvPr/>
        </p:nvSpPr>
        <p:spPr>
          <a:xfrm>
            <a:off x="13224007" y="3271176"/>
            <a:ext cx="3734828" cy="2922315"/>
          </a:xfrm>
          <a:custGeom>
            <a:avLst/>
            <a:gdLst/>
            <a:ahLst/>
            <a:cxnLst/>
            <a:rect l="l" t="t" r="r" b="b"/>
            <a:pathLst>
              <a:path w="3734828" h="2922315">
                <a:moveTo>
                  <a:pt x="0" y="0"/>
                </a:moveTo>
                <a:lnTo>
                  <a:pt x="3734828" y="0"/>
                </a:lnTo>
                <a:lnTo>
                  <a:pt x="3734828" y="2922315"/>
                </a:lnTo>
                <a:lnTo>
                  <a:pt x="0" y="2922315"/>
                </a:lnTo>
                <a:lnTo>
                  <a:pt x="0" y="0"/>
                </a:lnTo>
                <a:close/>
              </a:path>
            </a:pathLst>
          </a:custGeom>
          <a:blipFill>
            <a:blip r:embed="rId9"/>
            <a:stretch>
              <a:fillRect/>
            </a:stretch>
          </a:blipFill>
        </p:spPr>
      </p:sp>
      <p:sp>
        <p:nvSpPr>
          <p:cNvPr id="8" name="Freeform 8"/>
          <p:cNvSpPr/>
          <p:nvPr/>
        </p:nvSpPr>
        <p:spPr>
          <a:xfrm>
            <a:off x="413124" y="3295534"/>
            <a:ext cx="5257005" cy="2536505"/>
          </a:xfrm>
          <a:custGeom>
            <a:avLst/>
            <a:gdLst/>
            <a:ahLst/>
            <a:cxnLst/>
            <a:rect l="l" t="t" r="r" b="b"/>
            <a:pathLst>
              <a:path w="5257005" h="2536505">
                <a:moveTo>
                  <a:pt x="0" y="0"/>
                </a:moveTo>
                <a:lnTo>
                  <a:pt x="5257004" y="0"/>
                </a:lnTo>
                <a:lnTo>
                  <a:pt x="5257004" y="2536505"/>
                </a:lnTo>
                <a:lnTo>
                  <a:pt x="0" y="2536505"/>
                </a:lnTo>
                <a:lnTo>
                  <a:pt x="0" y="0"/>
                </a:lnTo>
                <a:close/>
              </a:path>
            </a:pathLst>
          </a:custGeom>
          <a:blipFill>
            <a:blip r:embed="rId10"/>
            <a:stretch>
              <a:fillRect/>
            </a:stretch>
          </a:blipFill>
        </p:spPr>
      </p:sp>
      <p:sp>
        <p:nvSpPr>
          <p:cNvPr id="9" name="TextBox 9"/>
          <p:cNvSpPr txBox="1"/>
          <p:nvPr/>
        </p:nvSpPr>
        <p:spPr>
          <a:xfrm>
            <a:off x="4348961" y="469690"/>
            <a:ext cx="9590078" cy="811530"/>
          </a:xfrm>
          <a:prstGeom prst="rect">
            <a:avLst/>
          </a:prstGeom>
        </p:spPr>
        <p:txBody>
          <a:bodyPr lIns="0" tIns="0" rIns="0" bIns="0" rtlCol="0" anchor="t">
            <a:spAutoFit/>
          </a:bodyPr>
          <a:lstStyle/>
          <a:p>
            <a:pPr algn="l">
              <a:lnSpc>
                <a:spcPts val="6719"/>
              </a:lnSpc>
            </a:pPr>
            <a:r>
              <a:rPr lang="en-US" sz="4800">
                <a:solidFill>
                  <a:srgbClr val="75FF82"/>
                </a:solidFill>
                <a:latin typeface="TT Hoves"/>
                <a:ea typeface="TT Hoves"/>
                <a:cs typeface="TT Hoves"/>
                <a:sym typeface="TT Hoves"/>
              </a:rPr>
              <a:t>Exploratory Data Analysis (EDA)</a:t>
            </a:r>
          </a:p>
        </p:txBody>
      </p:sp>
      <p:sp>
        <p:nvSpPr>
          <p:cNvPr id="10" name="TextBox 10"/>
          <p:cNvSpPr txBox="1"/>
          <p:nvPr/>
        </p:nvSpPr>
        <p:spPr>
          <a:xfrm>
            <a:off x="14334642" y="2595000"/>
            <a:ext cx="3953358"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Boxplots</a:t>
            </a:r>
          </a:p>
        </p:txBody>
      </p:sp>
      <p:sp>
        <p:nvSpPr>
          <p:cNvPr id="11" name="TextBox 11"/>
          <p:cNvSpPr txBox="1"/>
          <p:nvPr/>
        </p:nvSpPr>
        <p:spPr>
          <a:xfrm>
            <a:off x="13019142" y="6731914"/>
            <a:ext cx="4144558" cy="2223135"/>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FFFFFF"/>
                </a:solidFill>
                <a:latin typeface="TT Hoves"/>
                <a:ea typeface="TT Hoves"/>
                <a:cs typeface="TT Hoves"/>
                <a:sym typeface="TT Hoves"/>
              </a:rPr>
              <a:t>Boxplots show presence of extreme values</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Volume has very high variability</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Price spread is wide, indicating market fluctuations</a:t>
            </a:r>
          </a:p>
          <a:p>
            <a:pPr algn="l">
              <a:lnSpc>
                <a:spcPts val="2940"/>
              </a:lnSpc>
            </a:pPr>
            <a:endParaRPr lang="en-US" sz="2100">
              <a:solidFill>
                <a:srgbClr val="FFFFFF"/>
              </a:solidFill>
              <a:latin typeface="TT Hoves"/>
              <a:ea typeface="TT Hoves"/>
              <a:cs typeface="TT Hoves"/>
              <a:sym typeface="TT Hoves"/>
            </a:endParaRPr>
          </a:p>
        </p:txBody>
      </p:sp>
      <p:sp>
        <p:nvSpPr>
          <p:cNvPr id="12" name="TextBox 12"/>
          <p:cNvSpPr txBox="1"/>
          <p:nvPr/>
        </p:nvSpPr>
        <p:spPr>
          <a:xfrm>
            <a:off x="382755" y="6243493"/>
            <a:ext cx="5874524" cy="2721110"/>
          </a:xfrm>
          <a:prstGeom prst="rect">
            <a:avLst/>
          </a:prstGeom>
        </p:spPr>
        <p:txBody>
          <a:bodyPr lIns="0" tIns="0" rIns="0" bIns="0" rtlCol="0" anchor="t">
            <a:spAutoFit/>
          </a:bodyPr>
          <a:lstStyle/>
          <a:p>
            <a:pPr marL="477604" lvl="1" indent="-238802" algn="l">
              <a:lnSpc>
                <a:spcPts val="3097"/>
              </a:lnSpc>
              <a:buFont typeface="Arial"/>
              <a:buChar char="•"/>
            </a:pPr>
            <a:r>
              <a:rPr lang="en-US" sz="2212">
                <a:solidFill>
                  <a:srgbClr val="FFFFFF"/>
                </a:solidFill>
                <a:latin typeface="TT Hoves"/>
                <a:ea typeface="TT Hoves"/>
                <a:cs typeface="TT Hoves"/>
                <a:sym typeface="TT Hoves"/>
              </a:rPr>
              <a:t>Mean closing price ≈ 126.7</a:t>
            </a:r>
          </a:p>
          <a:p>
            <a:pPr marL="477604" lvl="1" indent="-238802" algn="l">
              <a:lnSpc>
                <a:spcPts val="3097"/>
              </a:lnSpc>
              <a:buFont typeface="Arial"/>
              <a:buChar char="•"/>
            </a:pPr>
            <a:r>
              <a:rPr lang="en-US" sz="2212">
                <a:solidFill>
                  <a:srgbClr val="FFFFFF"/>
                </a:solidFill>
                <a:latin typeface="TT Hoves"/>
                <a:ea typeface="TT Hoves"/>
                <a:cs typeface="TT Hoves"/>
                <a:sym typeface="TT Hoves"/>
              </a:rPr>
              <a:t>Minimum price ≈ 55.8</a:t>
            </a:r>
          </a:p>
          <a:p>
            <a:pPr marL="477604" lvl="1" indent="-238802" algn="l">
              <a:lnSpc>
                <a:spcPts val="3097"/>
              </a:lnSpc>
              <a:buFont typeface="Arial"/>
              <a:buChar char="•"/>
            </a:pPr>
            <a:r>
              <a:rPr lang="en-US" sz="2212">
                <a:solidFill>
                  <a:srgbClr val="FFFFFF"/>
                </a:solidFill>
                <a:latin typeface="TT Hoves"/>
                <a:ea typeface="TT Hoves"/>
                <a:cs typeface="TT Hoves"/>
                <a:sym typeface="TT Hoves"/>
              </a:rPr>
              <a:t>Maximum price ≈ 291.5</a:t>
            </a:r>
          </a:p>
          <a:p>
            <a:pPr marL="477604" lvl="1" indent="-238802" algn="l">
              <a:lnSpc>
                <a:spcPts val="3097"/>
              </a:lnSpc>
              <a:buFont typeface="Arial"/>
              <a:buChar char="•"/>
            </a:pPr>
            <a:r>
              <a:rPr lang="en-US" sz="2212">
                <a:solidFill>
                  <a:srgbClr val="FFFFFF"/>
                </a:solidFill>
                <a:latin typeface="TT Hoves"/>
                <a:ea typeface="TT Hoves"/>
                <a:cs typeface="TT Hoves"/>
                <a:sym typeface="TT Hoves"/>
              </a:rPr>
              <a:t>High standard deviation → indicates high volatility</a:t>
            </a:r>
          </a:p>
          <a:p>
            <a:pPr marL="477604" lvl="1" indent="-238802" algn="l">
              <a:lnSpc>
                <a:spcPts val="3097"/>
              </a:lnSpc>
              <a:buFont typeface="Arial"/>
              <a:buChar char="•"/>
            </a:pPr>
            <a:r>
              <a:rPr lang="en-US" sz="2212">
                <a:solidFill>
                  <a:srgbClr val="FFFFFF"/>
                </a:solidFill>
                <a:latin typeface="TT Hoves"/>
                <a:ea typeface="TT Hoves"/>
                <a:cs typeface="TT Hoves"/>
                <a:sym typeface="TT Hoves"/>
              </a:rPr>
              <a:t>Wide price range observed</a:t>
            </a:r>
          </a:p>
          <a:p>
            <a:pPr algn="l">
              <a:lnSpc>
                <a:spcPts val="3097"/>
              </a:lnSpc>
            </a:pPr>
            <a:endParaRPr lang="en-US" sz="2212">
              <a:solidFill>
                <a:srgbClr val="FFFFFF"/>
              </a:solidFill>
              <a:latin typeface="TT Hoves"/>
              <a:ea typeface="TT Hoves"/>
              <a:cs typeface="TT Hoves"/>
              <a:sym typeface="TT Hoves"/>
            </a:endParaRPr>
          </a:p>
        </p:txBody>
      </p:sp>
      <p:sp>
        <p:nvSpPr>
          <p:cNvPr id="13" name="TextBox 13"/>
          <p:cNvSpPr txBox="1"/>
          <p:nvPr/>
        </p:nvSpPr>
        <p:spPr>
          <a:xfrm>
            <a:off x="1323199" y="2595000"/>
            <a:ext cx="3953358"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Statistical Summary</a:t>
            </a:r>
          </a:p>
        </p:txBody>
      </p:sp>
      <p:sp>
        <p:nvSpPr>
          <p:cNvPr id="14" name="TextBox 14"/>
          <p:cNvSpPr txBox="1"/>
          <p:nvPr/>
        </p:nvSpPr>
        <p:spPr>
          <a:xfrm>
            <a:off x="7450359" y="3969100"/>
            <a:ext cx="3953358"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Distribution Analysis</a:t>
            </a:r>
          </a:p>
        </p:txBody>
      </p:sp>
      <p:sp>
        <p:nvSpPr>
          <p:cNvPr id="15" name="TextBox 15"/>
          <p:cNvSpPr txBox="1"/>
          <p:nvPr/>
        </p:nvSpPr>
        <p:spPr>
          <a:xfrm>
            <a:off x="7167321" y="4510921"/>
            <a:ext cx="3953358" cy="2594610"/>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FFFFFF"/>
                </a:solidFill>
                <a:latin typeface="TT Hoves"/>
                <a:ea typeface="TT Hoves"/>
                <a:cs typeface="TT Hoves"/>
                <a:sym typeface="TT Hoves"/>
              </a:rPr>
              <a:t>Price features show right-skewed distributions</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Volume has a heavy-tailed distribution</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Data is not normally distributed</a:t>
            </a:r>
          </a:p>
          <a:p>
            <a:pPr algn="l">
              <a:lnSpc>
                <a:spcPts val="2940"/>
              </a:lnSpc>
            </a:pPr>
            <a:endParaRPr lang="en-US" sz="2100">
              <a:solidFill>
                <a:srgbClr val="FFFFFF"/>
              </a:solidFill>
              <a:latin typeface="TT Hoves"/>
              <a:ea typeface="TT Hoves"/>
              <a:cs typeface="TT Hoves"/>
              <a:sym typeface="TT Hove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3CD9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19514" y="6451696"/>
            <a:ext cx="3787523" cy="3004812"/>
          </a:xfrm>
          <a:custGeom>
            <a:avLst/>
            <a:gdLst/>
            <a:ahLst/>
            <a:cxnLst/>
            <a:rect l="l" t="t" r="r" b="b"/>
            <a:pathLst>
              <a:path w="3787523" h="3004812">
                <a:moveTo>
                  <a:pt x="0" y="0"/>
                </a:moveTo>
                <a:lnTo>
                  <a:pt x="3787523" y="0"/>
                </a:lnTo>
                <a:lnTo>
                  <a:pt x="3787523" y="3004813"/>
                </a:lnTo>
                <a:lnTo>
                  <a:pt x="0" y="3004813"/>
                </a:lnTo>
                <a:lnTo>
                  <a:pt x="0" y="0"/>
                </a:lnTo>
                <a:close/>
              </a:path>
            </a:pathLst>
          </a:custGeom>
          <a:blipFill>
            <a:blip r:embed="rId2"/>
            <a:stretch>
              <a:fillRect/>
            </a:stretch>
          </a:blipFill>
        </p:spPr>
      </p:sp>
      <p:sp>
        <p:nvSpPr>
          <p:cNvPr id="3" name="TextBox 3"/>
          <p:cNvSpPr txBox="1"/>
          <p:nvPr/>
        </p:nvSpPr>
        <p:spPr>
          <a:xfrm>
            <a:off x="0" y="3324933"/>
            <a:ext cx="4626551" cy="3126764"/>
          </a:xfrm>
          <a:prstGeom prst="rect">
            <a:avLst/>
          </a:prstGeom>
        </p:spPr>
        <p:txBody>
          <a:bodyPr lIns="0" tIns="0" rIns="0" bIns="0" rtlCol="0" anchor="t">
            <a:spAutoFit/>
          </a:bodyPr>
          <a:lstStyle/>
          <a:p>
            <a:pPr marL="382467" lvl="1" indent="-191234" algn="l">
              <a:lnSpc>
                <a:spcPts val="2480"/>
              </a:lnSpc>
              <a:buFont typeface="Arial"/>
              <a:buChar char="•"/>
            </a:pPr>
            <a:r>
              <a:rPr lang="en-US" sz="1771">
                <a:solidFill>
                  <a:srgbClr val="FFFFFF"/>
                </a:solidFill>
                <a:latin typeface="TT Hoves"/>
                <a:ea typeface="TT Hoves"/>
                <a:cs typeface="TT Hoves"/>
                <a:sym typeface="TT Hoves"/>
              </a:rPr>
              <a:t>Shows daily closing prices of Apple stock from 2012 to 2019.</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A clear long-term upward trend is observed.</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Several short-term fluctuations are visible.</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Sudden spikes and drops indicate market volatility.</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The series does not follow a constant mean → non-stationary behavior.</a:t>
            </a:r>
          </a:p>
          <a:p>
            <a:pPr algn="l">
              <a:lnSpc>
                <a:spcPts val="2480"/>
              </a:lnSpc>
            </a:pPr>
            <a:endParaRPr lang="en-US" sz="1771">
              <a:solidFill>
                <a:srgbClr val="FFFFFF"/>
              </a:solidFill>
              <a:latin typeface="TT Hoves"/>
              <a:ea typeface="TT Hoves"/>
              <a:cs typeface="TT Hoves"/>
              <a:sym typeface="TT Hoves"/>
            </a:endParaRPr>
          </a:p>
        </p:txBody>
      </p:sp>
      <p:sp>
        <p:nvSpPr>
          <p:cNvPr id="4" name="Freeform 4"/>
          <p:cNvSpPr/>
          <p:nvPr/>
        </p:nvSpPr>
        <p:spPr>
          <a:xfrm rot="-5400000">
            <a:off x="2904244" y="5833535"/>
            <a:ext cx="3842874" cy="398261"/>
          </a:xfrm>
          <a:custGeom>
            <a:avLst/>
            <a:gdLst/>
            <a:ahLst/>
            <a:cxnLst/>
            <a:rect l="l" t="t" r="r" b="b"/>
            <a:pathLst>
              <a:path w="3842874" h="398261">
                <a:moveTo>
                  <a:pt x="0" y="0"/>
                </a:moveTo>
                <a:lnTo>
                  <a:pt x="3842874" y="0"/>
                </a:lnTo>
                <a:lnTo>
                  <a:pt x="3842874" y="398261"/>
                </a:lnTo>
                <a:lnTo>
                  <a:pt x="0" y="398261"/>
                </a:lnTo>
                <a:lnTo>
                  <a:pt x="0" y="0"/>
                </a:lnTo>
                <a:close/>
              </a:path>
            </a:pathLst>
          </a:custGeom>
          <a:blipFill>
            <a:blip r:embed="rId3">
              <a:alphaModFix amt="53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388569" y="3363033"/>
            <a:ext cx="3564234" cy="2795857"/>
          </a:xfrm>
          <a:custGeom>
            <a:avLst/>
            <a:gdLst/>
            <a:ahLst/>
            <a:cxnLst/>
            <a:rect l="l" t="t" r="r" b="b"/>
            <a:pathLst>
              <a:path w="3564234" h="2795857">
                <a:moveTo>
                  <a:pt x="0" y="0"/>
                </a:moveTo>
                <a:lnTo>
                  <a:pt x="3564234" y="0"/>
                </a:lnTo>
                <a:lnTo>
                  <a:pt x="3564234" y="2795857"/>
                </a:lnTo>
                <a:lnTo>
                  <a:pt x="0" y="2795857"/>
                </a:lnTo>
                <a:lnTo>
                  <a:pt x="0" y="0"/>
                </a:lnTo>
                <a:close/>
              </a:path>
            </a:pathLst>
          </a:custGeom>
          <a:blipFill>
            <a:blip r:embed="rId5"/>
            <a:stretch>
              <a:fillRect/>
            </a:stretch>
          </a:blipFill>
        </p:spPr>
      </p:sp>
      <p:sp>
        <p:nvSpPr>
          <p:cNvPr id="6" name="Freeform 6"/>
          <p:cNvSpPr/>
          <p:nvPr/>
        </p:nvSpPr>
        <p:spPr>
          <a:xfrm rot="-5400000">
            <a:off x="7808257" y="6078960"/>
            <a:ext cx="3398116" cy="352168"/>
          </a:xfrm>
          <a:custGeom>
            <a:avLst/>
            <a:gdLst/>
            <a:ahLst/>
            <a:cxnLst/>
            <a:rect l="l" t="t" r="r" b="b"/>
            <a:pathLst>
              <a:path w="3398116" h="352168">
                <a:moveTo>
                  <a:pt x="0" y="0"/>
                </a:moveTo>
                <a:lnTo>
                  <a:pt x="3398116" y="0"/>
                </a:lnTo>
                <a:lnTo>
                  <a:pt x="3398116" y="352169"/>
                </a:lnTo>
                <a:lnTo>
                  <a:pt x="0" y="3521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9892949" y="6451696"/>
            <a:ext cx="3611039" cy="2752782"/>
          </a:xfrm>
          <a:custGeom>
            <a:avLst/>
            <a:gdLst/>
            <a:ahLst/>
            <a:cxnLst/>
            <a:rect l="l" t="t" r="r" b="b"/>
            <a:pathLst>
              <a:path w="3611039" h="2752782">
                <a:moveTo>
                  <a:pt x="0" y="0"/>
                </a:moveTo>
                <a:lnTo>
                  <a:pt x="3611039" y="0"/>
                </a:lnTo>
                <a:lnTo>
                  <a:pt x="3611039" y="2752782"/>
                </a:lnTo>
                <a:lnTo>
                  <a:pt x="0" y="2752782"/>
                </a:lnTo>
                <a:lnTo>
                  <a:pt x="0" y="0"/>
                </a:lnTo>
                <a:close/>
              </a:path>
            </a:pathLst>
          </a:custGeom>
          <a:blipFill>
            <a:blip r:embed="rId8"/>
            <a:stretch>
              <a:fillRect/>
            </a:stretch>
          </a:blipFill>
        </p:spPr>
      </p:sp>
      <p:sp>
        <p:nvSpPr>
          <p:cNvPr id="8" name="Freeform 8"/>
          <p:cNvSpPr/>
          <p:nvPr/>
        </p:nvSpPr>
        <p:spPr>
          <a:xfrm rot="-5400000">
            <a:off x="12021808" y="5833535"/>
            <a:ext cx="3842874" cy="398261"/>
          </a:xfrm>
          <a:custGeom>
            <a:avLst/>
            <a:gdLst/>
            <a:ahLst/>
            <a:cxnLst/>
            <a:rect l="l" t="t" r="r" b="b"/>
            <a:pathLst>
              <a:path w="3842874" h="398261">
                <a:moveTo>
                  <a:pt x="0" y="0"/>
                </a:moveTo>
                <a:lnTo>
                  <a:pt x="3842874" y="0"/>
                </a:lnTo>
                <a:lnTo>
                  <a:pt x="3842874" y="398261"/>
                </a:lnTo>
                <a:lnTo>
                  <a:pt x="0" y="39826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4504326" y="3497365"/>
            <a:ext cx="3385071" cy="2640966"/>
          </a:xfrm>
          <a:custGeom>
            <a:avLst/>
            <a:gdLst/>
            <a:ahLst/>
            <a:cxnLst/>
            <a:rect l="l" t="t" r="r" b="b"/>
            <a:pathLst>
              <a:path w="3385071" h="2640966">
                <a:moveTo>
                  <a:pt x="0" y="0"/>
                </a:moveTo>
                <a:lnTo>
                  <a:pt x="3385071" y="0"/>
                </a:lnTo>
                <a:lnTo>
                  <a:pt x="3385071" y="2640965"/>
                </a:lnTo>
                <a:lnTo>
                  <a:pt x="0" y="2640965"/>
                </a:lnTo>
                <a:lnTo>
                  <a:pt x="0" y="0"/>
                </a:lnTo>
                <a:close/>
              </a:path>
            </a:pathLst>
          </a:custGeom>
          <a:blipFill>
            <a:blip r:embed="rId11"/>
            <a:stretch>
              <a:fillRect/>
            </a:stretch>
          </a:blipFill>
        </p:spPr>
      </p:sp>
      <p:sp>
        <p:nvSpPr>
          <p:cNvPr id="10" name="TextBox 10"/>
          <p:cNvSpPr txBox="1"/>
          <p:nvPr/>
        </p:nvSpPr>
        <p:spPr>
          <a:xfrm>
            <a:off x="4626551" y="349323"/>
            <a:ext cx="9034899" cy="811530"/>
          </a:xfrm>
          <a:prstGeom prst="rect">
            <a:avLst/>
          </a:prstGeom>
        </p:spPr>
        <p:txBody>
          <a:bodyPr lIns="0" tIns="0" rIns="0" bIns="0" rtlCol="0" anchor="t">
            <a:spAutoFit/>
          </a:bodyPr>
          <a:lstStyle/>
          <a:p>
            <a:pPr algn="ctr">
              <a:lnSpc>
                <a:spcPts val="6719"/>
              </a:lnSpc>
            </a:pPr>
            <a:r>
              <a:rPr lang="en-US" sz="4800">
                <a:solidFill>
                  <a:srgbClr val="75FF82"/>
                </a:solidFill>
                <a:latin typeface="TT Hoves"/>
                <a:ea typeface="TT Hoves"/>
                <a:cs typeface="TT Hoves"/>
                <a:sym typeface="TT Hoves"/>
              </a:rPr>
              <a:t>Exploratory Data Analysis (EDA)</a:t>
            </a:r>
          </a:p>
        </p:txBody>
      </p:sp>
      <p:sp>
        <p:nvSpPr>
          <p:cNvPr id="11" name="TextBox 11"/>
          <p:cNvSpPr txBox="1"/>
          <p:nvPr/>
        </p:nvSpPr>
        <p:spPr>
          <a:xfrm>
            <a:off x="5481822" y="2399103"/>
            <a:ext cx="3377728" cy="398780"/>
          </a:xfrm>
          <a:prstGeom prst="rect">
            <a:avLst/>
          </a:prstGeom>
        </p:spPr>
        <p:txBody>
          <a:bodyPr lIns="0" tIns="0" rIns="0" bIns="0" rtlCol="0" anchor="t">
            <a:spAutoFit/>
          </a:bodyPr>
          <a:lstStyle/>
          <a:p>
            <a:pPr algn="ctr">
              <a:lnSpc>
                <a:spcPts val="3219"/>
              </a:lnSpc>
            </a:pPr>
            <a:r>
              <a:rPr lang="en-US" sz="2299">
                <a:solidFill>
                  <a:srgbClr val="75FF82"/>
                </a:solidFill>
                <a:latin typeface="TT Hoves"/>
                <a:ea typeface="TT Hoves"/>
                <a:cs typeface="TT Hoves"/>
                <a:sym typeface="TT Hoves"/>
              </a:rPr>
              <a:t>Trend Component</a:t>
            </a:r>
          </a:p>
        </p:txBody>
      </p:sp>
      <p:sp>
        <p:nvSpPr>
          <p:cNvPr id="12" name="TextBox 12"/>
          <p:cNvSpPr txBox="1"/>
          <p:nvPr/>
        </p:nvSpPr>
        <p:spPr>
          <a:xfrm>
            <a:off x="14019445" y="2399103"/>
            <a:ext cx="3935733" cy="398780"/>
          </a:xfrm>
          <a:prstGeom prst="rect">
            <a:avLst/>
          </a:prstGeom>
        </p:spPr>
        <p:txBody>
          <a:bodyPr lIns="0" tIns="0" rIns="0" bIns="0" rtlCol="0" anchor="t">
            <a:spAutoFit/>
          </a:bodyPr>
          <a:lstStyle/>
          <a:p>
            <a:pPr algn="ctr">
              <a:lnSpc>
                <a:spcPts val="3219"/>
              </a:lnSpc>
            </a:pPr>
            <a:r>
              <a:rPr lang="en-US" sz="2299">
                <a:solidFill>
                  <a:srgbClr val="4BF55B"/>
                </a:solidFill>
                <a:latin typeface="TT Hoves"/>
                <a:ea typeface="TT Hoves"/>
                <a:cs typeface="TT Hoves"/>
                <a:sym typeface="TT Hoves"/>
              </a:rPr>
              <a:t>Residual Component</a:t>
            </a:r>
          </a:p>
        </p:txBody>
      </p:sp>
      <p:sp>
        <p:nvSpPr>
          <p:cNvPr id="13" name="TextBox 13"/>
          <p:cNvSpPr txBox="1"/>
          <p:nvPr/>
        </p:nvSpPr>
        <p:spPr>
          <a:xfrm>
            <a:off x="453262" y="2222890"/>
            <a:ext cx="3043528" cy="737235"/>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Apple Stock Closing Price Over Time</a:t>
            </a:r>
          </a:p>
        </p:txBody>
      </p:sp>
      <p:sp>
        <p:nvSpPr>
          <p:cNvPr id="14" name="TextBox 14"/>
          <p:cNvSpPr txBox="1"/>
          <p:nvPr/>
        </p:nvSpPr>
        <p:spPr>
          <a:xfrm>
            <a:off x="10050410" y="2399103"/>
            <a:ext cx="2858003" cy="398780"/>
          </a:xfrm>
          <a:prstGeom prst="rect">
            <a:avLst/>
          </a:prstGeom>
        </p:spPr>
        <p:txBody>
          <a:bodyPr lIns="0" tIns="0" rIns="0" bIns="0" rtlCol="0" anchor="t">
            <a:spAutoFit/>
          </a:bodyPr>
          <a:lstStyle/>
          <a:p>
            <a:pPr algn="ctr">
              <a:lnSpc>
                <a:spcPts val="3219"/>
              </a:lnSpc>
            </a:pPr>
            <a:r>
              <a:rPr lang="en-US" sz="2299">
                <a:solidFill>
                  <a:srgbClr val="75FF82"/>
                </a:solidFill>
                <a:latin typeface="TT Hoves"/>
                <a:ea typeface="TT Hoves"/>
                <a:cs typeface="TT Hoves"/>
                <a:sym typeface="TT Hoves"/>
              </a:rPr>
              <a:t>Seasonal Component</a:t>
            </a:r>
          </a:p>
        </p:txBody>
      </p:sp>
      <p:sp>
        <p:nvSpPr>
          <p:cNvPr id="15" name="TextBox 15"/>
          <p:cNvSpPr txBox="1"/>
          <p:nvPr/>
        </p:nvSpPr>
        <p:spPr>
          <a:xfrm>
            <a:off x="5176898" y="6643111"/>
            <a:ext cx="3946629" cy="2813398"/>
          </a:xfrm>
          <a:prstGeom prst="rect">
            <a:avLst/>
          </a:prstGeom>
        </p:spPr>
        <p:txBody>
          <a:bodyPr lIns="0" tIns="0" rIns="0" bIns="0" rtlCol="0" anchor="t">
            <a:spAutoFit/>
          </a:bodyPr>
          <a:lstStyle/>
          <a:p>
            <a:pPr marL="382467" lvl="1" indent="-191234" algn="l">
              <a:lnSpc>
                <a:spcPts val="2480"/>
              </a:lnSpc>
              <a:buFont typeface="Arial"/>
              <a:buChar char="•"/>
            </a:pPr>
            <a:r>
              <a:rPr lang="en-US" sz="1771">
                <a:solidFill>
                  <a:srgbClr val="FFFFFF"/>
                </a:solidFill>
                <a:latin typeface="TT Hoves"/>
                <a:ea typeface="TT Hoves"/>
                <a:cs typeface="TT Hoves"/>
                <a:sym typeface="TT Hoves"/>
              </a:rPr>
              <a:t>Represents the long-term movement of the stock price.</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Smooth curve removes short-term noise.</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Shows consistent growth after 2016.</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Helps identify the overall direction of the market.</a:t>
            </a:r>
          </a:p>
          <a:p>
            <a:pPr algn="l">
              <a:lnSpc>
                <a:spcPts val="2480"/>
              </a:lnSpc>
            </a:pPr>
            <a:endParaRPr lang="en-US" sz="1771">
              <a:solidFill>
                <a:srgbClr val="FFFFFF"/>
              </a:solidFill>
              <a:latin typeface="TT Hoves"/>
              <a:ea typeface="TT Hoves"/>
              <a:cs typeface="TT Hoves"/>
              <a:sym typeface="TT Hoves"/>
            </a:endParaRPr>
          </a:p>
        </p:txBody>
      </p:sp>
      <p:sp>
        <p:nvSpPr>
          <p:cNvPr id="16" name="TextBox 16"/>
          <p:cNvSpPr txBox="1"/>
          <p:nvPr/>
        </p:nvSpPr>
        <p:spPr>
          <a:xfrm>
            <a:off x="9683399" y="3324933"/>
            <a:ext cx="3946629" cy="2813398"/>
          </a:xfrm>
          <a:prstGeom prst="rect">
            <a:avLst/>
          </a:prstGeom>
        </p:spPr>
        <p:txBody>
          <a:bodyPr lIns="0" tIns="0" rIns="0" bIns="0" rtlCol="0" anchor="t">
            <a:spAutoFit/>
          </a:bodyPr>
          <a:lstStyle/>
          <a:p>
            <a:pPr marL="382467" lvl="1" indent="-191234" algn="l">
              <a:lnSpc>
                <a:spcPts val="2480"/>
              </a:lnSpc>
              <a:buFont typeface="Arial"/>
              <a:buChar char="•"/>
            </a:pPr>
            <a:r>
              <a:rPr lang="en-US" sz="1771">
                <a:solidFill>
                  <a:srgbClr val="FFFFFF"/>
                </a:solidFill>
                <a:latin typeface="TT Hoves"/>
                <a:ea typeface="TT Hoves"/>
                <a:cs typeface="TT Hoves"/>
                <a:sym typeface="TT Hoves"/>
              </a:rPr>
              <a:t>Represents repeating patterns in the data.</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Shows periodic behavior across years.</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Indicates that the stock exhibits seasonal movements.</a:t>
            </a:r>
          </a:p>
          <a:p>
            <a:pPr marL="382467" lvl="1" indent="-191234" algn="l">
              <a:lnSpc>
                <a:spcPts val="2480"/>
              </a:lnSpc>
              <a:buFont typeface="Arial"/>
              <a:buChar char="•"/>
            </a:pPr>
            <a:r>
              <a:rPr lang="en-US" sz="1771">
                <a:solidFill>
                  <a:srgbClr val="FFFFFF"/>
                </a:solidFill>
                <a:latin typeface="TT Hoves"/>
                <a:ea typeface="TT Hoves"/>
                <a:cs typeface="TT Hoves"/>
                <a:sym typeface="TT Hoves"/>
              </a:rPr>
              <a:t>Useful for understanding recurring market cycles</a:t>
            </a:r>
          </a:p>
          <a:p>
            <a:pPr algn="l">
              <a:lnSpc>
                <a:spcPts val="2480"/>
              </a:lnSpc>
            </a:pPr>
            <a:endParaRPr lang="en-US" sz="1771">
              <a:solidFill>
                <a:srgbClr val="FFFFFF"/>
              </a:solidFill>
              <a:latin typeface="TT Hoves"/>
              <a:ea typeface="TT Hoves"/>
              <a:cs typeface="TT Hoves"/>
              <a:sym typeface="TT Hoves"/>
            </a:endParaRPr>
          </a:p>
        </p:txBody>
      </p:sp>
      <p:sp>
        <p:nvSpPr>
          <p:cNvPr id="17" name="TextBox 17"/>
          <p:cNvSpPr txBox="1"/>
          <p:nvPr/>
        </p:nvSpPr>
        <p:spPr>
          <a:xfrm>
            <a:off x="14294776" y="6521609"/>
            <a:ext cx="3689871" cy="2736691"/>
          </a:xfrm>
          <a:prstGeom prst="rect">
            <a:avLst/>
          </a:prstGeom>
        </p:spPr>
        <p:txBody>
          <a:bodyPr lIns="0" tIns="0" rIns="0" bIns="0" rtlCol="0" anchor="t">
            <a:spAutoFit/>
          </a:bodyPr>
          <a:lstStyle/>
          <a:p>
            <a:pPr marL="379177" lvl="1" indent="-189588" algn="l">
              <a:lnSpc>
                <a:spcPts val="2458"/>
              </a:lnSpc>
              <a:buFont typeface="Arial"/>
              <a:buChar char="•"/>
            </a:pPr>
            <a:r>
              <a:rPr lang="en-US" sz="1756">
                <a:solidFill>
                  <a:srgbClr val="FFFFFF"/>
                </a:solidFill>
                <a:latin typeface="TT Hoves"/>
                <a:ea typeface="TT Hoves"/>
                <a:cs typeface="TT Hoves"/>
                <a:sym typeface="TT Hoves"/>
              </a:rPr>
              <a:t>Represents random noise after removing trend and seasonality.</a:t>
            </a:r>
          </a:p>
          <a:p>
            <a:pPr marL="379177" lvl="1" indent="-189588" algn="l">
              <a:lnSpc>
                <a:spcPts val="2458"/>
              </a:lnSpc>
              <a:buFont typeface="Arial"/>
              <a:buChar char="•"/>
            </a:pPr>
            <a:r>
              <a:rPr lang="en-US" sz="1756">
                <a:solidFill>
                  <a:srgbClr val="FFFFFF"/>
                </a:solidFill>
                <a:latin typeface="TT Hoves"/>
                <a:ea typeface="TT Hoves"/>
                <a:cs typeface="TT Hoves"/>
                <a:sym typeface="TT Hoves"/>
              </a:rPr>
              <a:t>Contains sudden spikes and drops.</a:t>
            </a:r>
          </a:p>
          <a:p>
            <a:pPr marL="379177" lvl="1" indent="-189588" algn="l">
              <a:lnSpc>
                <a:spcPts val="2458"/>
              </a:lnSpc>
              <a:buFont typeface="Arial"/>
              <a:buChar char="•"/>
            </a:pPr>
            <a:r>
              <a:rPr lang="en-US" sz="1756">
                <a:solidFill>
                  <a:srgbClr val="FFFFFF"/>
                </a:solidFill>
                <a:latin typeface="TT Hoves"/>
                <a:ea typeface="TT Hoves"/>
                <a:cs typeface="TT Hoves"/>
                <a:sym typeface="TT Hoves"/>
              </a:rPr>
              <a:t>Shows unpredictable market behavior.</a:t>
            </a:r>
          </a:p>
          <a:p>
            <a:pPr marL="379177" lvl="1" indent="-189588" algn="l">
              <a:lnSpc>
                <a:spcPts val="2458"/>
              </a:lnSpc>
              <a:buFont typeface="Arial"/>
              <a:buChar char="•"/>
            </a:pPr>
            <a:r>
              <a:rPr lang="en-US" sz="1756">
                <a:solidFill>
                  <a:srgbClr val="FFFFFF"/>
                </a:solidFill>
                <a:latin typeface="TT Hoves"/>
                <a:ea typeface="TT Hoves"/>
                <a:cs typeface="TT Hoves"/>
                <a:sym typeface="TT Hoves"/>
              </a:rPr>
              <a:t>Indicates the presence of external and unexpected factors.</a:t>
            </a:r>
          </a:p>
          <a:p>
            <a:pPr algn="l">
              <a:lnSpc>
                <a:spcPts val="2458"/>
              </a:lnSpc>
            </a:pPr>
            <a:endParaRPr lang="en-US" sz="1756">
              <a:solidFill>
                <a:srgbClr val="FFFFFF"/>
              </a:solidFill>
              <a:latin typeface="TT Hoves"/>
              <a:ea typeface="TT Hoves"/>
              <a:cs typeface="TT Hoves"/>
              <a:sym typeface="TT Hove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F1E"/>
        </a:solidFill>
        <a:effectLst/>
      </p:bgPr>
    </p:bg>
    <p:spTree>
      <p:nvGrpSpPr>
        <p:cNvPr id="1" name=""/>
        <p:cNvGrpSpPr/>
        <p:nvPr/>
      </p:nvGrpSpPr>
      <p:grpSpPr>
        <a:xfrm>
          <a:off x="0" y="0"/>
          <a:ext cx="0" cy="0"/>
          <a:chOff x="0" y="0"/>
          <a:chExt cx="0" cy="0"/>
        </a:xfrm>
      </p:grpSpPr>
      <p:sp>
        <p:nvSpPr>
          <p:cNvPr id="2" name="Freeform 2"/>
          <p:cNvSpPr/>
          <p:nvPr/>
        </p:nvSpPr>
        <p:spPr>
          <a:xfrm>
            <a:off x="0" y="7623098"/>
            <a:ext cx="6599756" cy="2663902"/>
          </a:xfrm>
          <a:custGeom>
            <a:avLst/>
            <a:gdLst/>
            <a:ahLst/>
            <a:cxnLst/>
            <a:rect l="l" t="t" r="r" b="b"/>
            <a:pathLst>
              <a:path w="6599756" h="2663902">
                <a:moveTo>
                  <a:pt x="0" y="0"/>
                </a:moveTo>
                <a:lnTo>
                  <a:pt x="6599756" y="0"/>
                </a:lnTo>
                <a:lnTo>
                  <a:pt x="6599756" y="2663902"/>
                </a:lnTo>
                <a:lnTo>
                  <a:pt x="0" y="26639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6505150"/>
            <a:ext cx="4660049" cy="600382"/>
          </a:xfrm>
          <a:custGeom>
            <a:avLst/>
            <a:gdLst/>
            <a:ahLst/>
            <a:cxnLst/>
            <a:rect l="l" t="t" r="r" b="b"/>
            <a:pathLst>
              <a:path w="4660049" h="600382">
                <a:moveTo>
                  <a:pt x="0" y="0"/>
                </a:moveTo>
                <a:lnTo>
                  <a:pt x="4660049" y="0"/>
                </a:lnTo>
                <a:lnTo>
                  <a:pt x="4660049" y="600381"/>
                </a:lnTo>
                <a:lnTo>
                  <a:pt x="0" y="600381"/>
                </a:lnTo>
                <a:lnTo>
                  <a:pt x="0" y="0"/>
                </a:lnTo>
                <a:close/>
              </a:path>
            </a:pathLst>
          </a:custGeom>
          <a:blipFill>
            <a:blip r:embed="rId4">
              <a:alphaModFix amt="76000"/>
            </a:blip>
            <a:stretch>
              <a:fillRect b="-28422"/>
            </a:stretch>
          </a:blipFill>
        </p:spPr>
      </p:sp>
      <p:sp>
        <p:nvSpPr>
          <p:cNvPr id="4" name="Freeform 4"/>
          <p:cNvSpPr/>
          <p:nvPr/>
        </p:nvSpPr>
        <p:spPr>
          <a:xfrm rot="-3445067">
            <a:off x="12662579" y="-14401383"/>
            <a:ext cx="21624619" cy="21624619"/>
          </a:xfrm>
          <a:custGeom>
            <a:avLst/>
            <a:gdLst/>
            <a:ahLst/>
            <a:cxnLst/>
            <a:rect l="l" t="t" r="r" b="b"/>
            <a:pathLst>
              <a:path w="21624619" h="21624619">
                <a:moveTo>
                  <a:pt x="0" y="0"/>
                </a:moveTo>
                <a:lnTo>
                  <a:pt x="21624619" y="0"/>
                </a:lnTo>
                <a:lnTo>
                  <a:pt x="21624619" y="21624619"/>
                </a:lnTo>
                <a:lnTo>
                  <a:pt x="0" y="21624619"/>
                </a:lnTo>
                <a:lnTo>
                  <a:pt x="0" y="0"/>
                </a:lnTo>
                <a:close/>
              </a:path>
            </a:pathLst>
          </a:custGeom>
          <a:blipFill>
            <a:blip r:embed="rId5">
              <a:alphaModFix amt="94000"/>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4348961" y="469690"/>
            <a:ext cx="9590078" cy="811530"/>
          </a:xfrm>
          <a:prstGeom prst="rect">
            <a:avLst/>
          </a:prstGeom>
        </p:spPr>
        <p:txBody>
          <a:bodyPr lIns="0" tIns="0" rIns="0" bIns="0" rtlCol="0" anchor="t">
            <a:spAutoFit/>
          </a:bodyPr>
          <a:lstStyle/>
          <a:p>
            <a:pPr algn="ctr">
              <a:lnSpc>
                <a:spcPts val="6719"/>
              </a:lnSpc>
            </a:pPr>
            <a:r>
              <a:rPr lang="en-US" sz="4800">
                <a:solidFill>
                  <a:srgbClr val="75FF82"/>
                </a:solidFill>
                <a:latin typeface="TT Hoves"/>
                <a:ea typeface="TT Hoves"/>
                <a:cs typeface="TT Hoves"/>
                <a:sym typeface="TT Hoves"/>
              </a:rPr>
              <a:t>Feature Engineering</a:t>
            </a:r>
          </a:p>
        </p:txBody>
      </p:sp>
      <p:sp>
        <p:nvSpPr>
          <p:cNvPr id="6" name="TextBox 6"/>
          <p:cNvSpPr txBox="1"/>
          <p:nvPr/>
        </p:nvSpPr>
        <p:spPr>
          <a:xfrm>
            <a:off x="6897418" y="6298457"/>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Lag Features</a:t>
            </a:r>
          </a:p>
        </p:txBody>
      </p:sp>
      <p:sp>
        <p:nvSpPr>
          <p:cNvPr id="7" name="TextBox 7"/>
          <p:cNvSpPr txBox="1"/>
          <p:nvPr/>
        </p:nvSpPr>
        <p:spPr>
          <a:xfrm>
            <a:off x="12992546" y="6964959"/>
            <a:ext cx="4144558" cy="1323340"/>
          </a:xfrm>
          <a:prstGeom prst="rect">
            <a:avLst/>
          </a:prstGeom>
        </p:spPr>
        <p:txBody>
          <a:bodyPr lIns="0" tIns="0" rIns="0" bIns="0" rtlCol="0" anchor="t">
            <a:spAutoFit/>
          </a:bodyPr>
          <a:lstStyle/>
          <a:p>
            <a:pPr algn="l">
              <a:lnSpc>
                <a:spcPts val="2660"/>
              </a:lnSpc>
            </a:pPr>
            <a:r>
              <a:rPr lang="en-US" sz="1900">
                <a:solidFill>
                  <a:srgbClr val="FFFFFF"/>
                </a:solidFill>
                <a:latin typeface="TT Hoves"/>
                <a:ea typeface="TT Hoves"/>
                <a:cs typeface="TT Hoves"/>
                <a:sym typeface="TT Hoves"/>
              </a:rPr>
              <a:t>Returns were calculated to measure the day-to-day percentage change in prices. This feature helps in capturing price momentum and rate of change.</a:t>
            </a:r>
          </a:p>
        </p:txBody>
      </p:sp>
      <p:sp>
        <p:nvSpPr>
          <p:cNvPr id="8" name="TextBox 8"/>
          <p:cNvSpPr txBox="1"/>
          <p:nvPr/>
        </p:nvSpPr>
        <p:spPr>
          <a:xfrm>
            <a:off x="770454" y="2086008"/>
            <a:ext cx="3119140"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Why Feature Engineering?</a:t>
            </a:r>
          </a:p>
        </p:txBody>
      </p:sp>
      <p:sp>
        <p:nvSpPr>
          <p:cNvPr id="9" name="TextBox 9"/>
          <p:cNvSpPr txBox="1"/>
          <p:nvPr/>
        </p:nvSpPr>
        <p:spPr>
          <a:xfrm>
            <a:off x="7023991" y="3223551"/>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Moving Averages</a:t>
            </a:r>
          </a:p>
        </p:txBody>
      </p:sp>
      <p:sp>
        <p:nvSpPr>
          <p:cNvPr id="10" name="TextBox 10"/>
          <p:cNvSpPr txBox="1"/>
          <p:nvPr/>
        </p:nvSpPr>
        <p:spPr>
          <a:xfrm>
            <a:off x="467108" y="2754068"/>
            <a:ext cx="4856379" cy="3521075"/>
          </a:xfrm>
          <a:prstGeom prst="rect">
            <a:avLst/>
          </a:prstGeom>
        </p:spPr>
        <p:txBody>
          <a:bodyPr lIns="0" tIns="0" rIns="0" bIns="0" rtlCol="0" anchor="t">
            <a:spAutoFit/>
          </a:bodyPr>
          <a:lstStyle/>
          <a:p>
            <a:pPr algn="l">
              <a:lnSpc>
                <a:spcPts val="2800"/>
              </a:lnSpc>
            </a:pPr>
            <a:r>
              <a:rPr lang="en-US" sz="2000">
                <a:solidFill>
                  <a:srgbClr val="FFFFFF"/>
                </a:solidFill>
                <a:latin typeface="TT Hoves"/>
                <a:ea typeface="TT Hoves"/>
                <a:cs typeface="TT Hoves"/>
                <a:sym typeface="TT Hoves"/>
              </a:rPr>
              <a:t>In this project, feature engineering was performed to extract meaningful patterns from raw stock price data. Instead of using only the closing price, several time-based features were created to capture trend, momentum, and market variability. These features help the model understand both short-term and long-term price movements.</a:t>
            </a:r>
          </a:p>
          <a:p>
            <a:pPr algn="l">
              <a:lnSpc>
                <a:spcPts val="2800"/>
              </a:lnSpc>
            </a:pPr>
            <a:endParaRPr lang="en-US" sz="2000">
              <a:solidFill>
                <a:srgbClr val="FFFFFF"/>
              </a:solidFill>
              <a:latin typeface="TT Hoves"/>
              <a:ea typeface="TT Hoves"/>
              <a:cs typeface="TT Hoves"/>
              <a:sym typeface="TT Hoves"/>
            </a:endParaRPr>
          </a:p>
        </p:txBody>
      </p:sp>
      <p:sp>
        <p:nvSpPr>
          <p:cNvPr id="11" name="TextBox 11"/>
          <p:cNvSpPr txBox="1"/>
          <p:nvPr/>
        </p:nvSpPr>
        <p:spPr>
          <a:xfrm>
            <a:off x="7071721" y="6964959"/>
            <a:ext cx="4144558" cy="1990090"/>
          </a:xfrm>
          <a:prstGeom prst="rect">
            <a:avLst/>
          </a:prstGeom>
        </p:spPr>
        <p:txBody>
          <a:bodyPr lIns="0" tIns="0" rIns="0" bIns="0" rtlCol="0" anchor="t">
            <a:spAutoFit/>
          </a:bodyPr>
          <a:lstStyle/>
          <a:p>
            <a:pPr algn="l">
              <a:lnSpc>
                <a:spcPts val="2660"/>
              </a:lnSpc>
            </a:pPr>
            <a:r>
              <a:rPr lang="en-US" sz="1900">
                <a:solidFill>
                  <a:srgbClr val="FFFFFF"/>
                </a:solidFill>
                <a:latin typeface="TT Hoves"/>
                <a:ea typeface="TT Hoves"/>
                <a:cs typeface="TT Hoves"/>
                <a:sym typeface="TT Hoves"/>
              </a:rPr>
              <a:t>Lag features were created using previous day prices to help the model learn temporal dependency. These features allow the model to use past values to predict future prices.</a:t>
            </a:r>
          </a:p>
          <a:p>
            <a:pPr algn="l">
              <a:lnSpc>
                <a:spcPts val="2660"/>
              </a:lnSpc>
            </a:pPr>
            <a:endParaRPr lang="en-US" sz="1900">
              <a:solidFill>
                <a:srgbClr val="FFFFFF"/>
              </a:solidFill>
              <a:latin typeface="TT Hoves"/>
              <a:ea typeface="TT Hoves"/>
              <a:cs typeface="TT Hoves"/>
              <a:sym typeface="TT Hoves"/>
            </a:endParaRPr>
          </a:p>
        </p:txBody>
      </p:sp>
      <p:sp>
        <p:nvSpPr>
          <p:cNvPr id="12" name="TextBox 12"/>
          <p:cNvSpPr txBox="1"/>
          <p:nvPr/>
        </p:nvSpPr>
        <p:spPr>
          <a:xfrm>
            <a:off x="7085738" y="3953602"/>
            <a:ext cx="4144558" cy="1990090"/>
          </a:xfrm>
          <a:prstGeom prst="rect">
            <a:avLst/>
          </a:prstGeom>
        </p:spPr>
        <p:txBody>
          <a:bodyPr lIns="0" tIns="0" rIns="0" bIns="0" rtlCol="0" anchor="t">
            <a:spAutoFit/>
          </a:bodyPr>
          <a:lstStyle/>
          <a:p>
            <a:pPr algn="l">
              <a:lnSpc>
                <a:spcPts val="2660"/>
              </a:lnSpc>
            </a:pPr>
            <a:r>
              <a:rPr lang="en-US" sz="1900">
                <a:solidFill>
                  <a:srgbClr val="FFFFFF"/>
                </a:solidFill>
                <a:latin typeface="TT Hoves"/>
                <a:ea typeface="TT Hoves"/>
                <a:cs typeface="TT Hoves"/>
                <a:sym typeface="TT Hoves"/>
              </a:rPr>
              <a:t>Moving averages were calculated over different day windows to smooth short-term fluctuations and highlight the overall trend in stock prices. This helps in reducing noise and capturing long-term movement.</a:t>
            </a:r>
          </a:p>
        </p:txBody>
      </p:sp>
      <p:sp>
        <p:nvSpPr>
          <p:cNvPr id="13" name="TextBox 13"/>
          <p:cNvSpPr txBox="1"/>
          <p:nvPr/>
        </p:nvSpPr>
        <p:spPr>
          <a:xfrm>
            <a:off x="13088146" y="6439581"/>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Returns</a:t>
            </a:r>
          </a:p>
        </p:txBody>
      </p:sp>
      <p:sp>
        <p:nvSpPr>
          <p:cNvPr id="14" name="TextBox 14"/>
          <p:cNvSpPr txBox="1"/>
          <p:nvPr/>
        </p:nvSpPr>
        <p:spPr>
          <a:xfrm>
            <a:off x="12677853" y="3223551"/>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Volatility</a:t>
            </a:r>
          </a:p>
        </p:txBody>
      </p:sp>
      <p:sp>
        <p:nvSpPr>
          <p:cNvPr id="15" name="TextBox 15"/>
          <p:cNvSpPr txBox="1"/>
          <p:nvPr/>
        </p:nvSpPr>
        <p:spPr>
          <a:xfrm>
            <a:off x="12992546" y="3917842"/>
            <a:ext cx="4144558" cy="1656715"/>
          </a:xfrm>
          <a:prstGeom prst="rect">
            <a:avLst/>
          </a:prstGeom>
        </p:spPr>
        <p:txBody>
          <a:bodyPr lIns="0" tIns="0" rIns="0" bIns="0" rtlCol="0" anchor="t">
            <a:spAutoFit/>
          </a:bodyPr>
          <a:lstStyle/>
          <a:p>
            <a:pPr algn="l">
              <a:lnSpc>
                <a:spcPts val="2660"/>
              </a:lnSpc>
            </a:pPr>
            <a:r>
              <a:rPr lang="en-US" sz="1900">
                <a:solidFill>
                  <a:srgbClr val="FFFFFF"/>
                </a:solidFill>
                <a:latin typeface="TT Hoves"/>
                <a:ea typeface="TT Hoves"/>
                <a:cs typeface="TT Hoves"/>
                <a:sym typeface="TT Hoves"/>
              </a:rPr>
              <a:t>Volatility was computed to measure the degree of variation in stock prices over time. It represents market uncertainty and risk, which is important for financial forecasting.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grpSp>
        <p:nvGrpSpPr>
          <p:cNvPr id="2" name="Group 2"/>
          <p:cNvGrpSpPr/>
          <p:nvPr/>
        </p:nvGrpSpPr>
        <p:grpSpPr>
          <a:xfrm>
            <a:off x="940269" y="1495448"/>
            <a:ext cx="7860082" cy="5213845"/>
            <a:chOff x="0" y="0"/>
            <a:chExt cx="2070145" cy="1373194"/>
          </a:xfrm>
        </p:grpSpPr>
        <p:sp>
          <p:nvSpPr>
            <p:cNvPr id="3" name="Freeform 3"/>
            <p:cNvSpPr/>
            <p:nvPr/>
          </p:nvSpPr>
          <p:spPr>
            <a:xfrm>
              <a:off x="0" y="0"/>
              <a:ext cx="2070145" cy="1373194"/>
            </a:xfrm>
            <a:custGeom>
              <a:avLst/>
              <a:gdLst/>
              <a:ahLst/>
              <a:cxnLst/>
              <a:rect l="l" t="t" r="r" b="b"/>
              <a:pathLst>
                <a:path w="2070145" h="1373194">
                  <a:moveTo>
                    <a:pt x="35459" y="0"/>
                  </a:moveTo>
                  <a:lnTo>
                    <a:pt x="2034686" y="0"/>
                  </a:lnTo>
                  <a:cubicBezTo>
                    <a:pt x="2044091" y="0"/>
                    <a:pt x="2053110" y="3736"/>
                    <a:pt x="2059760" y="10386"/>
                  </a:cubicBezTo>
                  <a:cubicBezTo>
                    <a:pt x="2066409" y="17035"/>
                    <a:pt x="2070145" y="26055"/>
                    <a:pt x="2070145" y="35459"/>
                  </a:cubicBezTo>
                  <a:lnTo>
                    <a:pt x="2070145" y="1337735"/>
                  </a:lnTo>
                  <a:cubicBezTo>
                    <a:pt x="2070145" y="1357318"/>
                    <a:pt x="2054270" y="1373194"/>
                    <a:pt x="2034686" y="1373194"/>
                  </a:cubicBezTo>
                  <a:lnTo>
                    <a:pt x="35459" y="1373194"/>
                  </a:lnTo>
                  <a:cubicBezTo>
                    <a:pt x="26055" y="1373194"/>
                    <a:pt x="17035" y="1369458"/>
                    <a:pt x="10386" y="1362808"/>
                  </a:cubicBezTo>
                  <a:cubicBezTo>
                    <a:pt x="3736" y="1356158"/>
                    <a:pt x="0" y="1347139"/>
                    <a:pt x="0" y="1337735"/>
                  </a:cubicBezTo>
                  <a:lnTo>
                    <a:pt x="0" y="35459"/>
                  </a:lnTo>
                  <a:cubicBezTo>
                    <a:pt x="0" y="26055"/>
                    <a:pt x="3736" y="17035"/>
                    <a:pt x="10386" y="10386"/>
                  </a:cubicBezTo>
                  <a:cubicBezTo>
                    <a:pt x="17035" y="3736"/>
                    <a:pt x="26055" y="0"/>
                    <a:pt x="35459" y="0"/>
                  </a:cubicBezTo>
                  <a:close/>
                </a:path>
              </a:pathLst>
            </a:custGeom>
            <a:solidFill>
              <a:srgbClr val="000000">
                <a:alpha val="0"/>
              </a:srgbClr>
            </a:solidFill>
            <a:ln w="47625" cap="rnd">
              <a:solidFill>
                <a:srgbClr val="BEC2C7">
                  <a:alpha val="28627"/>
                </a:srgbClr>
              </a:solidFill>
              <a:prstDash val="solid"/>
              <a:round/>
            </a:ln>
          </p:spPr>
        </p:sp>
        <p:sp>
          <p:nvSpPr>
            <p:cNvPr id="4" name="TextBox 4"/>
            <p:cNvSpPr txBox="1"/>
            <p:nvPr/>
          </p:nvSpPr>
          <p:spPr>
            <a:xfrm>
              <a:off x="0" y="-47625"/>
              <a:ext cx="2070145" cy="142081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151834" y="6861694"/>
            <a:ext cx="14002181" cy="3115496"/>
            <a:chOff x="0" y="0"/>
            <a:chExt cx="3687817" cy="820542"/>
          </a:xfrm>
        </p:grpSpPr>
        <p:sp>
          <p:nvSpPr>
            <p:cNvPr id="6" name="Freeform 6"/>
            <p:cNvSpPr/>
            <p:nvPr/>
          </p:nvSpPr>
          <p:spPr>
            <a:xfrm>
              <a:off x="0" y="0"/>
              <a:ext cx="3687817" cy="820542"/>
            </a:xfrm>
            <a:custGeom>
              <a:avLst/>
              <a:gdLst/>
              <a:ahLst/>
              <a:cxnLst/>
              <a:rect l="l" t="t" r="r" b="b"/>
              <a:pathLst>
                <a:path w="3687817" h="820542">
                  <a:moveTo>
                    <a:pt x="19905" y="0"/>
                  </a:moveTo>
                  <a:lnTo>
                    <a:pt x="3667913" y="0"/>
                  </a:lnTo>
                  <a:cubicBezTo>
                    <a:pt x="3678906" y="0"/>
                    <a:pt x="3687817" y="8912"/>
                    <a:pt x="3687817" y="19905"/>
                  </a:cubicBezTo>
                  <a:lnTo>
                    <a:pt x="3687817" y="800638"/>
                  </a:lnTo>
                  <a:cubicBezTo>
                    <a:pt x="3687817" y="811631"/>
                    <a:pt x="3678906" y="820542"/>
                    <a:pt x="3667913" y="820542"/>
                  </a:cubicBezTo>
                  <a:lnTo>
                    <a:pt x="19905" y="820542"/>
                  </a:lnTo>
                  <a:cubicBezTo>
                    <a:pt x="8912" y="820542"/>
                    <a:pt x="0" y="811631"/>
                    <a:pt x="0" y="800638"/>
                  </a:cubicBezTo>
                  <a:lnTo>
                    <a:pt x="0" y="19905"/>
                  </a:lnTo>
                  <a:cubicBezTo>
                    <a:pt x="0" y="8912"/>
                    <a:pt x="8912" y="0"/>
                    <a:pt x="19905" y="0"/>
                  </a:cubicBezTo>
                  <a:close/>
                </a:path>
              </a:pathLst>
            </a:custGeom>
            <a:solidFill>
              <a:srgbClr val="33CD91">
                <a:alpha val="28627"/>
              </a:srgbClr>
            </a:solidFill>
            <a:ln w="47625" cap="rnd">
              <a:solidFill>
                <a:srgbClr val="BEC2C7">
                  <a:alpha val="28627"/>
                </a:srgbClr>
              </a:solidFill>
              <a:prstDash val="solid"/>
              <a:round/>
            </a:ln>
          </p:spPr>
        </p:sp>
        <p:sp>
          <p:nvSpPr>
            <p:cNvPr id="7" name="TextBox 7"/>
            <p:cNvSpPr txBox="1"/>
            <p:nvPr/>
          </p:nvSpPr>
          <p:spPr>
            <a:xfrm>
              <a:off x="0" y="-47625"/>
              <a:ext cx="3687817" cy="86816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184132" y="1691293"/>
            <a:ext cx="4447508"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Augmented Dickey-Fuller (ADF) Test</a:t>
            </a:r>
          </a:p>
        </p:txBody>
      </p:sp>
      <p:grpSp>
        <p:nvGrpSpPr>
          <p:cNvPr id="9" name="Group 9"/>
          <p:cNvGrpSpPr/>
          <p:nvPr/>
        </p:nvGrpSpPr>
        <p:grpSpPr>
          <a:xfrm>
            <a:off x="9727545" y="1501816"/>
            <a:ext cx="7360683" cy="5207477"/>
            <a:chOff x="0" y="0"/>
            <a:chExt cx="1938616" cy="1371517"/>
          </a:xfrm>
        </p:grpSpPr>
        <p:sp>
          <p:nvSpPr>
            <p:cNvPr id="10" name="Freeform 10"/>
            <p:cNvSpPr/>
            <p:nvPr/>
          </p:nvSpPr>
          <p:spPr>
            <a:xfrm>
              <a:off x="0" y="0"/>
              <a:ext cx="1938616" cy="1371517"/>
            </a:xfrm>
            <a:custGeom>
              <a:avLst/>
              <a:gdLst/>
              <a:ahLst/>
              <a:cxnLst/>
              <a:rect l="l" t="t" r="r" b="b"/>
              <a:pathLst>
                <a:path w="1938616" h="1371517">
                  <a:moveTo>
                    <a:pt x="37865" y="0"/>
                  </a:moveTo>
                  <a:lnTo>
                    <a:pt x="1900751" y="0"/>
                  </a:lnTo>
                  <a:cubicBezTo>
                    <a:pt x="1921664" y="0"/>
                    <a:pt x="1938616" y="16953"/>
                    <a:pt x="1938616" y="37865"/>
                  </a:cubicBezTo>
                  <a:lnTo>
                    <a:pt x="1938616" y="1333652"/>
                  </a:lnTo>
                  <a:cubicBezTo>
                    <a:pt x="1938616" y="1354564"/>
                    <a:pt x="1921664" y="1371517"/>
                    <a:pt x="1900751" y="1371517"/>
                  </a:cubicBezTo>
                  <a:lnTo>
                    <a:pt x="37865" y="1371517"/>
                  </a:lnTo>
                  <a:cubicBezTo>
                    <a:pt x="16953" y="1371517"/>
                    <a:pt x="0" y="1354564"/>
                    <a:pt x="0" y="1333652"/>
                  </a:cubicBezTo>
                  <a:lnTo>
                    <a:pt x="0" y="37865"/>
                  </a:lnTo>
                  <a:cubicBezTo>
                    <a:pt x="0" y="16953"/>
                    <a:pt x="16953" y="0"/>
                    <a:pt x="37865" y="0"/>
                  </a:cubicBezTo>
                  <a:close/>
                </a:path>
              </a:pathLst>
            </a:custGeom>
            <a:solidFill>
              <a:srgbClr val="000000">
                <a:alpha val="0"/>
              </a:srgbClr>
            </a:solidFill>
            <a:ln w="47625" cap="rnd">
              <a:solidFill>
                <a:srgbClr val="BEC2C7">
                  <a:alpha val="28627"/>
                </a:srgbClr>
              </a:solidFill>
              <a:prstDash val="solid"/>
              <a:round/>
            </a:ln>
          </p:spPr>
        </p:sp>
        <p:sp>
          <p:nvSpPr>
            <p:cNvPr id="11" name="TextBox 11"/>
            <p:cNvSpPr txBox="1"/>
            <p:nvPr/>
          </p:nvSpPr>
          <p:spPr>
            <a:xfrm>
              <a:off x="0" y="-47625"/>
              <a:ext cx="1938616" cy="1419142"/>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5114329" y="2169795"/>
            <a:ext cx="2836470" cy="1996382"/>
          </a:xfrm>
          <a:custGeom>
            <a:avLst/>
            <a:gdLst/>
            <a:ahLst/>
            <a:cxnLst/>
            <a:rect l="l" t="t" r="r" b="b"/>
            <a:pathLst>
              <a:path w="2836470" h="1996382">
                <a:moveTo>
                  <a:pt x="0" y="0"/>
                </a:moveTo>
                <a:lnTo>
                  <a:pt x="2836470" y="0"/>
                </a:lnTo>
                <a:lnTo>
                  <a:pt x="2836470" y="1996382"/>
                </a:lnTo>
                <a:lnTo>
                  <a:pt x="0" y="1996382"/>
                </a:lnTo>
                <a:lnTo>
                  <a:pt x="0" y="0"/>
                </a:lnTo>
                <a:close/>
              </a:path>
            </a:pathLst>
          </a:custGeom>
          <a:blipFill>
            <a:blip r:embed="rId2"/>
            <a:stretch>
              <a:fillRect t="-3151" b="-3151"/>
            </a:stretch>
          </a:blipFill>
        </p:spPr>
      </p:sp>
      <p:sp>
        <p:nvSpPr>
          <p:cNvPr id="13" name="Freeform 13"/>
          <p:cNvSpPr/>
          <p:nvPr/>
        </p:nvSpPr>
        <p:spPr>
          <a:xfrm>
            <a:off x="1607492" y="4604718"/>
            <a:ext cx="2536387" cy="1887438"/>
          </a:xfrm>
          <a:custGeom>
            <a:avLst/>
            <a:gdLst/>
            <a:ahLst/>
            <a:cxnLst/>
            <a:rect l="l" t="t" r="r" b="b"/>
            <a:pathLst>
              <a:path w="2536387" h="1887438">
                <a:moveTo>
                  <a:pt x="0" y="0"/>
                </a:moveTo>
                <a:lnTo>
                  <a:pt x="2536387" y="0"/>
                </a:lnTo>
                <a:lnTo>
                  <a:pt x="2536387" y="1887438"/>
                </a:lnTo>
                <a:lnTo>
                  <a:pt x="0" y="1887438"/>
                </a:lnTo>
                <a:lnTo>
                  <a:pt x="0" y="0"/>
                </a:lnTo>
                <a:close/>
              </a:path>
            </a:pathLst>
          </a:custGeom>
          <a:blipFill>
            <a:blip r:embed="rId3"/>
            <a:stretch>
              <a:fillRect/>
            </a:stretch>
          </a:blipFill>
        </p:spPr>
      </p:sp>
      <p:sp>
        <p:nvSpPr>
          <p:cNvPr id="14" name="Freeform 14"/>
          <p:cNvSpPr/>
          <p:nvPr/>
        </p:nvSpPr>
        <p:spPr>
          <a:xfrm>
            <a:off x="6294254" y="7665356"/>
            <a:ext cx="5699491" cy="1866583"/>
          </a:xfrm>
          <a:custGeom>
            <a:avLst/>
            <a:gdLst/>
            <a:ahLst/>
            <a:cxnLst/>
            <a:rect l="l" t="t" r="r" b="b"/>
            <a:pathLst>
              <a:path w="5699491" h="1866583">
                <a:moveTo>
                  <a:pt x="0" y="0"/>
                </a:moveTo>
                <a:lnTo>
                  <a:pt x="5699492" y="0"/>
                </a:lnTo>
                <a:lnTo>
                  <a:pt x="5699492" y="1866583"/>
                </a:lnTo>
                <a:lnTo>
                  <a:pt x="0" y="1866583"/>
                </a:lnTo>
                <a:lnTo>
                  <a:pt x="0" y="0"/>
                </a:lnTo>
                <a:close/>
              </a:path>
            </a:pathLst>
          </a:custGeom>
          <a:blipFill>
            <a:blip r:embed="rId4"/>
            <a:stretch>
              <a:fillRect/>
            </a:stretch>
          </a:blipFill>
        </p:spPr>
      </p:sp>
      <p:sp>
        <p:nvSpPr>
          <p:cNvPr id="15" name="TextBox 15"/>
          <p:cNvSpPr txBox="1"/>
          <p:nvPr/>
        </p:nvSpPr>
        <p:spPr>
          <a:xfrm>
            <a:off x="2341138" y="373249"/>
            <a:ext cx="12918427" cy="811530"/>
          </a:xfrm>
          <a:prstGeom prst="rect">
            <a:avLst/>
          </a:prstGeom>
        </p:spPr>
        <p:txBody>
          <a:bodyPr lIns="0" tIns="0" rIns="0" bIns="0" rtlCol="0" anchor="t">
            <a:spAutoFit/>
          </a:bodyPr>
          <a:lstStyle/>
          <a:p>
            <a:pPr algn="ctr">
              <a:lnSpc>
                <a:spcPts val="6719"/>
              </a:lnSpc>
            </a:pPr>
            <a:r>
              <a:rPr lang="en-US" sz="4800">
                <a:solidFill>
                  <a:srgbClr val="75FF82"/>
                </a:solidFill>
                <a:latin typeface="TT Hoves"/>
                <a:ea typeface="TT Hoves"/>
                <a:cs typeface="TT Hoves"/>
                <a:sym typeface="TT Hoves"/>
              </a:rPr>
              <a:t>Stationarity &amp; Time Series Diagnostics</a:t>
            </a:r>
          </a:p>
        </p:txBody>
      </p:sp>
      <p:sp>
        <p:nvSpPr>
          <p:cNvPr id="16" name="TextBox 16"/>
          <p:cNvSpPr txBox="1"/>
          <p:nvPr/>
        </p:nvSpPr>
        <p:spPr>
          <a:xfrm>
            <a:off x="1126731" y="2141220"/>
            <a:ext cx="3987598" cy="2714684"/>
          </a:xfrm>
          <a:prstGeom prst="rect">
            <a:avLst/>
          </a:prstGeom>
        </p:spPr>
        <p:txBody>
          <a:bodyPr lIns="0" tIns="0" rIns="0" bIns="0" rtlCol="0" anchor="t">
            <a:spAutoFit/>
          </a:bodyPr>
          <a:lstStyle/>
          <a:p>
            <a:pPr marL="309937" lvl="1" indent="-154968" algn="l">
              <a:lnSpc>
                <a:spcPts val="2009"/>
              </a:lnSpc>
              <a:buFont typeface="Arial"/>
              <a:buChar char="•"/>
            </a:pPr>
            <a:r>
              <a:rPr lang="en-US" sz="1435">
                <a:solidFill>
                  <a:srgbClr val="FFFFFF"/>
                </a:solidFill>
                <a:latin typeface="TT Hoves"/>
                <a:ea typeface="TT Hoves"/>
                <a:cs typeface="TT Hoves"/>
                <a:sym typeface="TT Hoves"/>
              </a:rPr>
              <a:t>The closing price line plot shows a clear upward trend over time.</a:t>
            </a:r>
          </a:p>
          <a:p>
            <a:pPr marL="305126" lvl="1" indent="-152563" algn="l">
              <a:lnSpc>
                <a:spcPts val="1978"/>
              </a:lnSpc>
              <a:buFont typeface="Arial"/>
              <a:buChar char="•"/>
            </a:pPr>
            <a:r>
              <a:rPr lang="en-US" sz="1413">
                <a:solidFill>
                  <a:srgbClr val="FFFFFF"/>
                </a:solidFill>
                <a:latin typeface="TT Hoves"/>
                <a:ea typeface="TT Hoves"/>
                <a:cs typeface="TT Hoves"/>
                <a:sym typeface="TT Hoves"/>
              </a:rPr>
              <a:t>The mean of the series changes continuously.</a:t>
            </a:r>
          </a:p>
          <a:p>
            <a:pPr marL="309937" lvl="1" indent="-154968" algn="l">
              <a:lnSpc>
                <a:spcPts val="2009"/>
              </a:lnSpc>
              <a:buFont typeface="Arial"/>
              <a:buChar char="•"/>
            </a:pPr>
            <a:r>
              <a:rPr lang="en-US" sz="1435">
                <a:solidFill>
                  <a:srgbClr val="FFFFFF"/>
                </a:solidFill>
                <a:latin typeface="TT Hoves"/>
                <a:ea typeface="TT Hoves"/>
                <a:cs typeface="TT Hoves"/>
                <a:sym typeface="TT Hoves"/>
              </a:rPr>
              <a:t>The magnitude of fluctuations increases in later years.</a:t>
            </a:r>
          </a:p>
          <a:p>
            <a:pPr marL="309937" lvl="1" indent="-154968" algn="l">
              <a:lnSpc>
                <a:spcPts val="2009"/>
              </a:lnSpc>
              <a:buFont typeface="Arial"/>
              <a:buChar char="•"/>
            </a:pPr>
            <a:r>
              <a:rPr lang="en-US" sz="1435">
                <a:solidFill>
                  <a:srgbClr val="FFFFFF"/>
                </a:solidFill>
                <a:latin typeface="TT Hoves"/>
                <a:ea typeface="TT Hoves"/>
                <a:cs typeface="TT Hoves"/>
                <a:sym typeface="TT Hoves"/>
              </a:rPr>
              <a:t>This indicates that the series does not have constant mean and variance.</a:t>
            </a:r>
          </a:p>
          <a:p>
            <a:pPr marL="309937" lvl="1" indent="-154968" algn="l">
              <a:lnSpc>
                <a:spcPts val="2009"/>
              </a:lnSpc>
              <a:buFont typeface="Arial"/>
              <a:buChar char="•"/>
            </a:pPr>
            <a:r>
              <a:rPr lang="en-US" sz="1435">
                <a:solidFill>
                  <a:srgbClr val="FFFFFF"/>
                </a:solidFill>
                <a:latin typeface="TT Hoves"/>
                <a:ea typeface="TT Hoves"/>
                <a:cs typeface="TT Hoves"/>
                <a:sym typeface="TT Hoves"/>
              </a:rPr>
              <a:t>Hence, the original time series is non-stationary.</a:t>
            </a:r>
          </a:p>
          <a:p>
            <a:pPr algn="l">
              <a:lnSpc>
                <a:spcPts val="1855"/>
              </a:lnSpc>
            </a:pPr>
            <a:endParaRPr lang="en-US" sz="1435">
              <a:solidFill>
                <a:srgbClr val="FFFFFF"/>
              </a:solidFill>
              <a:latin typeface="TT Hoves"/>
              <a:ea typeface="TT Hoves"/>
              <a:cs typeface="TT Hoves"/>
              <a:sym typeface="TT Hoves"/>
            </a:endParaRPr>
          </a:p>
          <a:p>
            <a:pPr algn="l">
              <a:lnSpc>
                <a:spcPts val="1855"/>
              </a:lnSpc>
            </a:pPr>
            <a:endParaRPr lang="en-US" sz="1435">
              <a:solidFill>
                <a:srgbClr val="FFFFFF"/>
              </a:solidFill>
              <a:latin typeface="TT Hoves"/>
              <a:ea typeface="TT Hoves"/>
              <a:cs typeface="TT Hoves"/>
              <a:sym typeface="TT Hoves"/>
            </a:endParaRPr>
          </a:p>
        </p:txBody>
      </p:sp>
      <p:sp>
        <p:nvSpPr>
          <p:cNvPr id="17" name="TextBox 17"/>
          <p:cNvSpPr txBox="1"/>
          <p:nvPr/>
        </p:nvSpPr>
        <p:spPr>
          <a:xfrm>
            <a:off x="1752600" y="1691293"/>
            <a:ext cx="4569263" cy="345607"/>
          </a:xfrm>
          <a:prstGeom prst="rect">
            <a:avLst/>
          </a:prstGeom>
        </p:spPr>
        <p:txBody>
          <a:bodyPr wrap="square" lIns="0" tIns="0" rIns="0" bIns="0" rtlCol="0" anchor="t">
            <a:spAutoFit/>
          </a:bodyPr>
          <a:lstStyle/>
          <a:p>
            <a:pPr algn="l">
              <a:lnSpc>
                <a:spcPts val="2940"/>
              </a:lnSpc>
            </a:pPr>
            <a:r>
              <a:rPr lang="en-US" sz="2100" dirty="0">
                <a:solidFill>
                  <a:srgbClr val="75FF82"/>
                </a:solidFill>
                <a:latin typeface="TT Hoves"/>
                <a:ea typeface="TT Hoves"/>
                <a:cs typeface="TT Hoves"/>
                <a:sym typeface="TT Hoves"/>
              </a:rPr>
              <a:t>Stationarity Analysis (Using Line Plot)</a:t>
            </a:r>
          </a:p>
        </p:txBody>
      </p:sp>
      <p:sp>
        <p:nvSpPr>
          <p:cNvPr id="18" name="TextBox 18"/>
          <p:cNvSpPr txBox="1"/>
          <p:nvPr/>
        </p:nvSpPr>
        <p:spPr>
          <a:xfrm>
            <a:off x="10025295" y="2210877"/>
            <a:ext cx="3382591" cy="3337560"/>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Before Differencing:</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 Test Statistic = 1.219</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p-value = 0.996</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p-value &gt; 0.05 → Fail to reject null hypothesis</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The series is non-stationary</a:t>
            </a:r>
          </a:p>
          <a:p>
            <a:pPr algn="l">
              <a:lnSpc>
                <a:spcPts val="2940"/>
              </a:lnSpc>
            </a:pPr>
            <a:endParaRPr lang="en-US" sz="2100">
              <a:solidFill>
                <a:srgbClr val="FFFFFF"/>
              </a:solidFill>
              <a:latin typeface="TT Hoves"/>
              <a:ea typeface="TT Hoves"/>
              <a:cs typeface="TT Hoves"/>
              <a:sym typeface="TT Hoves"/>
            </a:endParaRPr>
          </a:p>
          <a:p>
            <a:pPr algn="l">
              <a:lnSpc>
                <a:spcPts val="2940"/>
              </a:lnSpc>
            </a:pPr>
            <a:endParaRPr lang="en-US" sz="2100">
              <a:solidFill>
                <a:srgbClr val="FFFFFF"/>
              </a:solidFill>
              <a:latin typeface="TT Hoves"/>
              <a:ea typeface="TT Hoves"/>
              <a:cs typeface="TT Hoves"/>
              <a:sym typeface="TT Hoves"/>
            </a:endParaRPr>
          </a:p>
        </p:txBody>
      </p:sp>
      <p:sp>
        <p:nvSpPr>
          <p:cNvPr id="19" name="TextBox 19"/>
          <p:cNvSpPr txBox="1"/>
          <p:nvPr/>
        </p:nvSpPr>
        <p:spPr>
          <a:xfrm>
            <a:off x="7497087" y="7004569"/>
            <a:ext cx="3900309"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ACF &amp; PACF Analysis</a:t>
            </a:r>
          </a:p>
        </p:txBody>
      </p:sp>
      <p:sp>
        <p:nvSpPr>
          <p:cNvPr id="20" name="TextBox 20"/>
          <p:cNvSpPr txBox="1"/>
          <p:nvPr/>
        </p:nvSpPr>
        <p:spPr>
          <a:xfrm>
            <a:off x="4352467" y="4576143"/>
            <a:ext cx="4251519" cy="1710961"/>
          </a:xfrm>
          <a:prstGeom prst="rect">
            <a:avLst/>
          </a:prstGeom>
        </p:spPr>
        <p:txBody>
          <a:bodyPr lIns="0" tIns="0" rIns="0" bIns="0" rtlCol="0" anchor="t">
            <a:spAutoFit/>
          </a:bodyPr>
          <a:lstStyle/>
          <a:p>
            <a:pPr marL="355540" lvl="1" indent="-177770" algn="l">
              <a:lnSpc>
                <a:spcPts val="2305"/>
              </a:lnSpc>
              <a:buFont typeface="Arial"/>
              <a:buChar char="•"/>
            </a:pPr>
            <a:r>
              <a:rPr lang="en-US" sz="1646">
                <a:solidFill>
                  <a:srgbClr val="FFFFFF"/>
                </a:solidFill>
                <a:latin typeface="TT Hoves"/>
                <a:ea typeface="TT Hoves"/>
                <a:cs typeface="TT Hoves"/>
                <a:sym typeface="TT Hoves"/>
              </a:rPr>
              <a:t>After applying differencing, the trend is removed.</a:t>
            </a:r>
          </a:p>
          <a:p>
            <a:pPr marL="355540" lvl="1" indent="-177770" algn="l">
              <a:lnSpc>
                <a:spcPts val="2305"/>
              </a:lnSpc>
              <a:buFont typeface="Arial"/>
              <a:buChar char="•"/>
            </a:pPr>
            <a:r>
              <a:rPr lang="en-US" sz="1646">
                <a:solidFill>
                  <a:srgbClr val="FFFFFF"/>
                </a:solidFill>
                <a:latin typeface="TT Hoves"/>
                <a:ea typeface="TT Hoves"/>
                <a:cs typeface="TT Hoves"/>
                <a:sym typeface="TT Hoves"/>
              </a:rPr>
              <a:t>The differenced series fluctuates around a constant mean.</a:t>
            </a:r>
          </a:p>
          <a:p>
            <a:pPr marL="355540" lvl="1" indent="-177770" algn="l">
              <a:lnSpc>
                <a:spcPts val="2305"/>
              </a:lnSpc>
              <a:buFont typeface="Arial"/>
              <a:buChar char="•"/>
            </a:pPr>
            <a:r>
              <a:rPr lang="en-US" sz="1646">
                <a:solidFill>
                  <a:srgbClr val="FFFFFF"/>
                </a:solidFill>
                <a:latin typeface="TT Hoves"/>
                <a:ea typeface="TT Hoves"/>
                <a:cs typeface="TT Hoves"/>
                <a:sym typeface="TT Hoves"/>
              </a:rPr>
              <a:t>This suggests that differencing helps in making the series stationary.</a:t>
            </a:r>
          </a:p>
        </p:txBody>
      </p:sp>
      <p:sp>
        <p:nvSpPr>
          <p:cNvPr id="21" name="TextBox 21"/>
          <p:cNvSpPr txBox="1"/>
          <p:nvPr/>
        </p:nvSpPr>
        <p:spPr>
          <a:xfrm>
            <a:off x="13407886" y="2210877"/>
            <a:ext cx="3214410" cy="2966085"/>
          </a:xfrm>
          <a:prstGeom prst="rect">
            <a:avLst/>
          </a:prstGeom>
        </p:spPr>
        <p:txBody>
          <a:bodyPr lIns="0" tIns="0" rIns="0" bIns="0" rtlCol="0" anchor="t">
            <a:spAutoFit/>
          </a:bodyPr>
          <a:lstStyle/>
          <a:p>
            <a:pPr algn="l">
              <a:lnSpc>
                <a:spcPts val="2940"/>
              </a:lnSpc>
            </a:pPr>
            <a:r>
              <a:rPr lang="en-US" sz="2100">
                <a:solidFill>
                  <a:srgbClr val="FFFFFF"/>
                </a:solidFill>
                <a:latin typeface="TT Hoves"/>
                <a:ea typeface="TT Hoves"/>
                <a:cs typeface="TT Hoves"/>
                <a:sym typeface="TT Hoves"/>
              </a:rPr>
              <a:t>After Differencing:</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Test Statistic = -13.63</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p-value = 1.76e-25</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p-value &lt; 0.05 → Reject null hypothesis</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The differenced series becomes stationary</a:t>
            </a:r>
          </a:p>
          <a:p>
            <a:pPr algn="l">
              <a:lnSpc>
                <a:spcPts val="2940"/>
              </a:lnSpc>
            </a:pPr>
            <a:endParaRPr lang="en-US" sz="2100">
              <a:solidFill>
                <a:srgbClr val="FFFFFF"/>
              </a:solidFill>
              <a:latin typeface="TT Hoves"/>
              <a:ea typeface="TT Hoves"/>
              <a:cs typeface="TT Hoves"/>
              <a:sym typeface="TT Hoves"/>
            </a:endParaRPr>
          </a:p>
        </p:txBody>
      </p:sp>
      <p:sp>
        <p:nvSpPr>
          <p:cNvPr id="22" name="TextBox 22"/>
          <p:cNvSpPr txBox="1"/>
          <p:nvPr/>
        </p:nvSpPr>
        <p:spPr>
          <a:xfrm>
            <a:off x="10025295" y="4927051"/>
            <a:ext cx="6919349" cy="1934642"/>
          </a:xfrm>
          <a:prstGeom prst="rect">
            <a:avLst/>
          </a:prstGeom>
        </p:spPr>
        <p:txBody>
          <a:bodyPr lIns="0" tIns="0" rIns="0" bIns="0" rtlCol="0" anchor="t">
            <a:spAutoFit/>
          </a:bodyPr>
          <a:lstStyle/>
          <a:p>
            <a:pPr algn="l">
              <a:lnSpc>
                <a:spcPts val="2566"/>
              </a:lnSpc>
            </a:pPr>
            <a:r>
              <a:rPr lang="en-US" sz="1832">
                <a:solidFill>
                  <a:srgbClr val="FFFFFF"/>
                </a:solidFill>
                <a:latin typeface="TT Hoves"/>
                <a:ea typeface="TT Hoves"/>
                <a:cs typeface="TT Hoves"/>
                <a:sym typeface="TT Hoves"/>
              </a:rPr>
              <a:t> Inference:</a:t>
            </a:r>
          </a:p>
          <a:p>
            <a:pPr marL="395741" lvl="1" indent="-197871" algn="l">
              <a:lnSpc>
                <a:spcPts val="2566"/>
              </a:lnSpc>
              <a:buFont typeface="Arial"/>
              <a:buChar char="•"/>
            </a:pPr>
            <a:r>
              <a:rPr lang="en-US" sz="1832">
                <a:solidFill>
                  <a:srgbClr val="FFFFFF"/>
                </a:solidFill>
                <a:latin typeface="TT Hoves"/>
                <a:ea typeface="TT Hoves"/>
                <a:cs typeface="TT Hoves"/>
                <a:sym typeface="TT Hoves"/>
              </a:rPr>
              <a:t>The ADF test statistically confirms what we observed in the line plot.</a:t>
            </a:r>
          </a:p>
          <a:p>
            <a:pPr marL="395741" lvl="1" indent="-197871" algn="l">
              <a:lnSpc>
                <a:spcPts val="2566"/>
              </a:lnSpc>
              <a:buFont typeface="Arial"/>
              <a:buChar char="•"/>
            </a:pPr>
            <a:r>
              <a:rPr lang="en-US" sz="1832">
                <a:solidFill>
                  <a:srgbClr val="FFFFFF"/>
                </a:solidFill>
                <a:latin typeface="TT Hoves"/>
                <a:ea typeface="TT Hoves"/>
                <a:cs typeface="TT Hoves"/>
                <a:sym typeface="TT Hoves"/>
              </a:rPr>
              <a:t>Differencing stabilizes the series.</a:t>
            </a:r>
          </a:p>
          <a:p>
            <a:pPr marL="395741" lvl="1" indent="-197871" algn="l">
              <a:lnSpc>
                <a:spcPts val="2566"/>
              </a:lnSpc>
              <a:buFont typeface="Arial"/>
              <a:buChar char="•"/>
            </a:pPr>
            <a:r>
              <a:rPr lang="en-US" sz="1832">
                <a:solidFill>
                  <a:srgbClr val="FFFFFF"/>
                </a:solidFill>
                <a:latin typeface="TT Hoves"/>
                <a:ea typeface="TT Hoves"/>
                <a:cs typeface="TT Hoves"/>
                <a:sym typeface="TT Hoves"/>
              </a:rPr>
              <a:t>This step helps determine the value of d (d=1).</a:t>
            </a:r>
          </a:p>
          <a:p>
            <a:pPr algn="l">
              <a:lnSpc>
                <a:spcPts val="2566"/>
              </a:lnSpc>
            </a:pPr>
            <a:endParaRPr lang="en-US" sz="1832">
              <a:solidFill>
                <a:srgbClr val="FFFFFF"/>
              </a:solidFill>
              <a:latin typeface="TT Hoves"/>
              <a:ea typeface="TT Hoves"/>
              <a:cs typeface="TT Hoves"/>
              <a:sym typeface="TT Hoves"/>
            </a:endParaRPr>
          </a:p>
        </p:txBody>
      </p:sp>
      <p:sp>
        <p:nvSpPr>
          <p:cNvPr id="23" name="TextBox 23"/>
          <p:cNvSpPr txBox="1"/>
          <p:nvPr/>
        </p:nvSpPr>
        <p:spPr>
          <a:xfrm>
            <a:off x="2257047" y="7410606"/>
            <a:ext cx="4191427" cy="2347509"/>
          </a:xfrm>
          <a:prstGeom prst="rect">
            <a:avLst/>
          </a:prstGeom>
        </p:spPr>
        <p:txBody>
          <a:bodyPr lIns="0" tIns="0" rIns="0" bIns="0" rtlCol="0" anchor="t">
            <a:spAutoFit/>
          </a:bodyPr>
          <a:lstStyle/>
          <a:p>
            <a:pPr algn="l">
              <a:lnSpc>
                <a:spcPts val="2384"/>
              </a:lnSpc>
            </a:pPr>
            <a:r>
              <a:rPr lang="en-US" sz="1703">
                <a:solidFill>
                  <a:srgbClr val="FFFFFF"/>
                </a:solidFill>
                <a:latin typeface="TT Hoves"/>
                <a:ea typeface="TT Hoves"/>
                <a:cs typeface="TT Hoves"/>
                <a:sym typeface="TT Hoves"/>
              </a:rPr>
              <a:t>ACF (Autocorrelation Function):</a:t>
            </a:r>
          </a:p>
          <a:p>
            <a:pPr marL="367761" lvl="1" indent="-183880" algn="l">
              <a:lnSpc>
                <a:spcPts val="2384"/>
              </a:lnSpc>
              <a:buFont typeface="Arial"/>
              <a:buChar char="•"/>
            </a:pPr>
            <a:r>
              <a:rPr lang="en-US" sz="1703">
                <a:solidFill>
                  <a:srgbClr val="FFFFFF"/>
                </a:solidFill>
                <a:latin typeface="TT Hoves"/>
                <a:ea typeface="TT Hoves"/>
                <a:cs typeface="TT Hoves"/>
                <a:sym typeface="TT Hoves"/>
              </a:rPr>
              <a:t>Most lags lie within the confidence interval.</a:t>
            </a:r>
          </a:p>
          <a:p>
            <a:pPr marL="367761" lvl="1" indent="-183880" algn="l">
              <a:lnSpc>
                <a:spcPts val="2384"/>
              </a:lnSpc>
              <a:buFont typeface="Arial"/>
              <a:buChar char="•"/>
            </a:pPr>
            <a:r>
              <a:rPr lang="en-US" sz="1703">
                <a:solidFill>
                  <a:srgbClr val="FFFFFF"/>
                </a:solidFill>
                <a:latin typeface="TT Hoves"/>
                <a:ea typeface="TT Hoves"/>
                <a:cs typeface="TT Hoves"/>
                <a:sym typeface="TT Hoves"/>
              </a:rPr>
              <a:t>No strong significant autocorrelations observed.</a:t>
            </a:r>
          </a:p>
          <a:p>
            <a:pPr marL="367761" lvl="1" indent="-183880" algn="l">
              <a:lnSpc>
                <a:spcPts val="2384"/>
              </a:lnSpc>
              <a:buFont typeface="Arial"/>
              <a:buChar char="•"/>
            </a:pPr>
            <a:r>
              <a:rPr lang="en-US" sz="1703">
                <a:solidFill>
                  <a:srgbClr val="FFFFFF"/>
                </a:solidFill>
                <a:latin typeface="TT Hoves"/>
                <a:ea typeface="TT Hoves"/>
                <a:cs typeface="TT Hoves"/>
                <a:sym typeface="TT Hoves"/>
              </a:rPr>
              <a:t>Indicates weak MA behavior.</a:t>
            </a:r>
          </a:p>
          <a:p>
            <a:pPr marL="367761" lvl="1" indent="-183880" algn="l">
              <a:lnSpc>
                <a:spcPts val="2384"/>
              </a:lnSpc>
              <a:buFont typeface="Arial"/>
              <a:buChar char="•"/>
            </a:pPr>
            <a:r>
              <a:rPr lang="en-US" sz="1703">
                <a:solidFill>
                  <a:srgbClr val="FFFFFF"/>
                </a:solidFill>
                <a:latin typeface="TT Hoves"/>
                <a:ea typeface="TT Hoves"/>
                <a:cs typeface="TT Hoves"/>
                <a:sym typeface="TT Hoves"/>
              </a:rPr>
              <a:t>Suggests q ≈ 0 or small.</a:t>
            </a:r>
          </a:p>
          <a:p>
            <a:pPr algn="l">
              <a:lnSpc>
                <a:spcPts val="2384"/>
              </a:lnSpc>
            </a:pPr>
            <a:endParaRPr lang="en-US" sz="1703">
              <a:solidFill>
                <a:srgbClr val="FFFFFF"/>
              </a:solidFill>
              <a:latin typeface="TT Hoves"/>
              <a:ea typeface="TT Hoves"/>
              <a:cs typeface="TT Hoves"/>
              <a:sym typeface="TT Hoves"/>
            </a:endParaRPr>
          </a:p>
        </p:txBody>
      </p:sp>
      <p:sp>
        <p:nvSpPr>
          <p:cNvPr id="24" name="TextBox 24"/>
          <p:cNvSpPr txBox="1"/>
          <p:nvPr/>
        </p:nvSpPr>
        <p:spPr>
          <a:xfrm>
            <a:off x="12213535" y="7627256"/>
            <a:ext cx="3940480" cy="1808939"/>
          </a:xfrm>
          <a:prstGeom prst="rect">
            <a:avLst/>
          </a:prstGeom>
        </p:spPr>
        <p:txBody>
          <a:bodyPr lIns="0" tIns="0" rIns="0" bIns="0" rtlCol="0" anchor="t">
            <a:spAutoFit/>
          </a:bodyPr>
          <a:lstStyle/>
          <a:p>
            <a:pPr algn="l">
              <a:lnSpc>
                <a:spcPts val="2413"/>
              </a:lnSpc>
            </a:pPr>
            <a:r>
              <a:rPr lang="en-US" sz="1723">
                <a:solidFill>
                  <a:srgbClr val="FFFFFF"/>
                </a:solidFill>
                <a:latin typeface="TT Hoves"/>
                <a:ea typeface="TT Hoves"/>
                <a:cs typeface="TT Hoves"/>
                <a:sym typeface="TT Hoves"/>
              </a:rPr>
              <a:t>PACF (Partial Autocorrelation Function):</a:t>
            </a:r>
          </a:p>
          <a:p>
            <a:pPr marL="372142" lvl="1" indent="-186071" algn="l">
              <a:lnSpc>
                <a:spcPts val="2413"/>
              </a:lnSpc>
              <a:buFont typeface="Arial"/>
              <a:buChar char="•"/>
            </a:pPr>
            <a:r>
              <a:rPr lang="en-US" sz="1723">
                <a:solidFill>
                  <a:srgbClr val="FFFFFF"/>
                </a:solidFill>
                <a:latin typeface="TT Hoves"/>
                <a:ea typeface="TT Hoves"/>
                <a:cs typeface="TT Hoves"/>
                <a:sym typeface="TT Hoves"/>
              </a:rPr>
              <a:t>No sharp cutoff at early lags.</a:t>
            </a:r>
          </a:p>
          <a:p>
            <a:pPr marL="372142" lvl="1" indent="-186071" algn="l">
              <a:lnSpc>
                <a:spcPts val="2413"/>
              </a:lnSpc>
              <a:buFont typeface="Arial"/>
              <a:buChar char="•"/>
            </a:pPr>
            <a:r>
              <a:rPr lang="en-US" sz="1723">
                <a:solidFill>
                  <a:srgbClr val="FFFFFF"/>
                </a:solidFill>
                <a:latin typeface="TT Hoves"/>
                <a:ea typeface="TT Hoves"/>
                <a:cs typeface="TT Hoves"/>
                <a:sym typeface="TT Hoves"/>
              </a:rPr>
              <a:t>All values lie near zero.</a:t>
            </a:r>
          </a:p>
          <a:p>
            <a:pPr marL="372142" lvl="1" indent="-186071" algn="l">
              <a:lnSpc>
                <a:spcPts val="2413"/>
              </a:lnSpc>
              <a:buFont typeface="Arial"/>
              <a:buChar char="•"/>
            </a:pPr>
            <a:r>
              <a:rPr lang="en-US" sz="1723">
                <a:solidFill>
                  <a:srgbClr val="FFFFFF"/>
                </a:solidFill>
                <a:latin typeface="TT Hoves"/>
                <a:ea typeface="TT Hoves"/>
                <a:cs typeface="TT Hoves"/>
                <a:sym typeface="TT Hoves"/>
              </a:rPr>
              <a:t>Indicates weak AR behavior.</a:t>
            </a:r>
          </a:p>
          <a:p>
            <a:pPr marL="372142" lvl="1" indent="-186071" algn="l">
              <a:lnSpc>
                <a:spcPts val="2413"/>
              </a:lnSpc>
              <a:buFont typeface="Arial"/>
              <a:buChar char="•"/>
            </a:pPr>
            <a:r>
              <a:rPr lang="en-US" sz="1723">
                <a:solidFill>
                  <a:srgbClr val="FFFFFF"/>
                </a:solidFill>
                <a:latin typeface="TT Hoves"/>
                <a:ea typeface="TT Hoves"/>
                <a:cs typeface="TT Hoves"/>
                <a:sym typeface="TT Hoves"/>
              </a:rPr>
              <a:t>Suggests p ≈ 0 or small.</a:t>
            </a:r>
          </a:p>
          <a:p>
            <a:pPr algn="l">
              <a:lnSpc>
                <a:spcPts val="2413"/>
              </a:lnSpc>
            </a:pPr>
            <a:endParaRPr lang="en-US" sz="1723">
              <a:solidFill>
                <a:srgbClr val="FFFFFF"/>
              </a:solidFill>
              <a:latin typeface="TT Hoves"/>
              <a:ea typeface="TT Hoves"/>
              <a:cs typeface="TT Hoves"/>
              <a:sym typeface="TT Hove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2" name="Freeform 2"/>
          <p:cNvSpPr/>
          <p:nvPr/>
        </p:nvSpPr>
        <p:spPr>
          <a:xfrm>
            <a:off x="3196720" y="665798"/>
            <a:ext cx="9938959" cy="8999275"/>
          </a:xfrm>
          <a:custGeom>
            <a:avLst/>
            <a:gdLst/>
            <a:ahLst/>
            <a:cxnLst/>
            <a:rect l="l" t="t" r="r" b="b"/>
            <a:pathLst>
              <a:path w="9938959" h="8999275">
                <a:moveTo>
                  <a:pt x="0" y="0"/>
                </a:moveTo>
                <a:lnTo>
                  <a:pt x="9938958" y="0"/>
                </a:lnTo>
                <a:lnTo>
                  <a:pt x="9938958" y="8999275"/>
                </a:lnTo>
                <a:lnTo>
                  <a:pt x="0" y="8999275"/>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435251" y="1913359"/>
            <a:ext cx="4911591" cy="3413973"/>
            <a:chOff x="0" y="0"/>
            <a:chExt cx="1293588" cy="899154"/>
          </a:xfrm>
        </p:grpSpPr>
        <p:sp>
          <p:nvSpPr>
            <p:cNvPr id="4" name="Freeform 4"/>
            <p:cNvSpPr/>
            <p:nvPr/>
          </p:nvSpPr>
          <p:spPr>
            <a:xfrm>
              <a:off x="0" y="0"/>
              <a:ext cx="1293588" cy="899154"/>
            </a:xfrm>
            <a:custGeom>
              <a:avLst/>
              <a:gdLst/>
              <a:ahLst/>
              <a:cxnLst/>
              <a:rect l="l" t="t" r="r" b="b"/>
              <a:pathLst>
                <a:path w="1293588" h="899154">
                  <a:moveTo>
                    <a:pt x="36254" y="0"/>
                  </a:moveTo>
                  <a:lnTo>
                    <a:pt x="1257334" y="0"/>
                  </a:lnTo>
                  <a:cubicBezTo>
                    <a:pt x="1277356" y="0"/>
                    <a:pt x="1293588" y="16231"/>
                    <a:pt x="1293588" y="36254"/>
                  </a:cubicBezTo>
                  <a:lnTo>
                    <a:pt x="1293588" y="862900"/>
                  </a:lnTo>
                  <a:cubicBezTo>
                    <a:pt x="1293588" y="872515"/>
                    <a:pt x="1289768" y="881736"/>
                    <a:pt x="1282969" y="888535"/>
                  </a:cubicBezTo>
                  <a:cubicBezTo>
                    <a:pt x="1276170" y="895334"/>
                    <a:pt x="1266949" y="899154"/>
                    <a:pt x="1257334" y="899154"/>
                  </a:cubicBezTo>
                  <a:lnTo>
                    <a:pt x="36254" y="899154"/>
                  </a:lnTo>
                  <a:cubicBezTo>
                    <a:pt x="26639" y="899154"/>
                    <a:pt x="17417" y="895334"/>
                    <a:pt x="10619" y="888535"/>
                  </a:cubicBezTo>
                  <a:cubicBezTo>
                    <a:pt x="3820" y="881736"/>
                    <a:pt x="0" y="872515"/>
                    <a:pt x="0" y="862900"/>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id="5" name="TextBox 5"/>
            <p:cNvSpPr txBox="1"/>
            <p:nvPr/>
          </p:nvSpPr>
          <p:spPr>
            <a:xfrm>
              <a:off x="0" y="-47625"/>
              <a:ext cx="1293588" cy="946779"/>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64569" y="580073"/>
            <a:ext cx="10164545" cy="811530"/>
          </a:xfrm>
          <a:prstGeom prst="rect">
            <a:avLst/>
          </a:prstGeom>
        </p:spPr>
        <p:txBody>
          <a:bodyPr lIns="0" tIns="0" rIns="0" bIns="0" rtlCol="0" anchor="t">
            <a:spAutoFit/>
          </a:bodyPr>
          <a:lstStyle/>
          <a:p>
            <a:pPr algn="l">
              <a:lnSpc>
                <a:spcPts val="6719"/>
              </a:lnSpc>
            </a:pPr>
            <a:r>
              <a:rPr lang="en-US" sz="4800">
                <a:solidFill>
                  <a:srgbClr val="75FF82"/>
                </a:solidFill>
                <a:latin typeface="TT Hoves"/>
                <a:ea typeface="TT Hoves"/>
                <a:cs typeface="TT Hoves"/>
                <a:sym typeface="TT Hoves"/>
              </a:rPr>
              <a:t>Statistical Time Series Models</a:t>
            </a:r>
          </a:p>
        </p:txBody>
      </p:sp>
      <p:sp>
        <p:nvSpPr>
          <p:cNvPr id="7" name="TextBox 7"/>
          <p:cNvSpPr txBox="1"/>
          <p:nvPr/>
        </p:nvSpPr>
        <p:spPr>
          <a:xfrm>
            <a:off x="1435251" y="2778598"/>
            <a:ext cx="4224235" cy="2950978"/>
          </a:xfrm>
          <a:prstGeom prst="rect">
            <a:avLst/>
          </a:prstGeom>
        </p:spPr>
        <p:txBody>
          <a:bodyPr lIns="0" tIns="0" rIns="0" bIns="0" rtlCol="0" anchor="t">
            <a:spAutoFit/>
          </a:bodyPr>
          <a:lstStyle/>
          <a:p>
            <a:pPr marL="518523" lvl="1" indent="-259261" algn="l">
              <a:lnSpc>
                <a:spcPts val="3362"/>
              </a:lnSpc>
              <a:buFont typeface="Arial"/>
              <a:buChar char="•"/>
            </a:pPr>
            <a:r>
              <a:rPr lang="en-US" sz="2401">
                <a:solidFill>
                  <a:srgbClr val="FFFFFF"/>
                </a:solidFill>
                <a:latin typeface="TT Hoves"/>
                <a:ea typeface="TT Hoves"/>
                <a:cs typeface="TT Hoves"/>
                <a:sym typeface="TT Hoves"/>
              </a:rPr>
              <a:t>Captures linear relationships in time series.</a:t>
            </a:r>
          </a:p>
          <a:p>
            <a:pPr marL="518523" lvl="1" indent="-259261" algn="l">
              <a:lnSpc>
                <a:spcPts val="3362"/>
              </a:lnSpc>
              <a:buFont typeface="Arial"/>
              <a:buChar char="•"/>
            </a:pPr>
            <a:r>
              <a:rPr lang="en-US" sz="2401">
                <a:solidFill>
                  <a:srgbClr val="FFFFFF"/>
                </a:solidFill>
                <a:latin typeface="TT Hoves"/>
                <a:ea typeface="TT Hoves"/>
                <a:cs typeface="TT Hoves"/>
                <a:sym typeface="TT Hoves"/>
              </a:rPr>
              <a:t>Uses past values and past errors for forecasting.</a:t>
            </a:r>
          </a:p>
          <a:p>
            <a:pPr marL="518523" lvl="1" indent="-259261" algn="l">
              <a:lnSpc>
                <a:spcPts val="3362"/>
              </a:lnSpc>
              <a:buFont typeface="Arial"/>
              <a:buChar char="•"/>
            </a:pPr>
            <a:r>
              <a:rPr lang="en-US" sz="2401">
                <a:solidFill>
                  <a:srgbClr val="FFFFFF"/>
                </a:solidFill>
                <a:latin typeface="TT Hoves"/>
                <a:ea typeface="TT Hoves"/>
                <a:cs typeface="TT Hoves"/>
                <a:sym typeface="TT Hoves"/>
              </a:rPr>
              <a:t>Requires stationary data.</a:t>
            </a:r>
          </a:p>
          <a:p>
            <a:pPr algn="l">
              <a:lnSpc>
                <a:spcPts val="3362"/>
              </a:lnSpc>
            </a:pPr>
            <a:endParaRPr lang="en-US" sz="2401">
              <a:solidFill>
                <a:srgbClr val="FFFFFF"/>
              </a:solidFill>
              <a:latin typeface="TT Hoves"/>
              <a:ea typeface="TT Hoves"/>
              <a:cs typeface="TT Hoves"/>
              <a:sym typeface="TT Hoves"/>
            </a:endParaRPr>
          </a:p>
          <a:p>
            <a:pPr algn="l">
              <a:lnSpc>
                <a:spcPts val="3362"/>
              </a:lnSpc>
            </a:pPr>
            <a:endParaRPr lang="en-US" sz="2401">
              <a:solidFill>
                <a:srgbClr val="FFFFFF"/>
              </a:solidFill>
              <a:latin typeface="TT Hoves"/>
              <a:ea typeface="TT Hoves"/>
              <a:cs typeface="TT Hoves"/>
              <a:sym typeface="TT Hoves"/>
            </a:endParaRPr>
          </a:p>
        </p:txBody>
      </p:sp>
      <p:sp>
        <p:nvSpPr>
          <p:cNvPr id="8" name="TextBox 8"/>
          <p:cNvSpPr txBox="1"/>
          <p:nvPr/>
        </p:nvSpPr>
        <p:spPr>
          <a:xfrm>
            <a:off x="1905335" y="2205828"/>
            <a:ext cx="3522938" cy="382270"/>
          </a:xfrm>
          <a:prstGeom prst="rect">
            <a:avLst/>
          </a:prstGeom>
        </p:spPr>
        <p:txBody>
          <a:bodyPr lIns="0" tIns="0" rIns="0" bIns="0" rtlCol="0" anchor="t">
            <a:spAutoFit/>
          </a:bodyPr>
          <a:lstStyle/>
          <a:p>
            <a:pPr algn="ctr">
              <a:lnSpc>
                <a:spcPts val="3079"/>
              </a:lnSpc>
            </a:pPr>
            <a:r>
              <a:rPr lang="en-US" sz="2199">
                <a:solidFill>
                  <a:srgbClr val="75FF82"/>
                </a:solidFill>
                <a:latin typeface="TT Hoves"/>
                <a:ea typeface="TT Hoves"/>
                <a:cs typeface="TT Hoves"/>
                <a:sym typeface="TT Hoves"/>
              </a:rPr>
              <a:t>ARIMA</a:t>
            </a:r>
          </a:p>
        </p:txBody>
      </p:sp>
      <p:grpSp>
        <p:nvGrpSpPr>
          <p:cNvPr id="9" name="Group 9"/>
          <p:cNvGrpSpPr/>
          <p:nvPr/>
        </p:nvGrpSpPr>
        <p:grpSpPr>
          <a:xfrm>
            <a:off x="1435251" y="5849089"/>
            <a:ext cx="4911591" cy="3409211"/>
            <a:chOff x="0" y="0"/>
            <a:chExt cx="1293588" cy="897899"/>
          </a:xfrm>
        </p:grpSpPr>
        <p:sp>
          <p:nvSpPr>
            <p:cNvPr id="10" name="Freeform 10"/>
            <p:cNvSpPr/>
            <p:nvPr/>
          </p:nvSpPr>
          <p:spPr>
            <a:xfrm>
              <a:off x="0" y="0"/>
              <a:ext cx="1293588" cy="897899"/>
            </a:xfrm>
            <a:custGeom>
              <a:avLst/>
              <a:gdLst/>
              <a:ahLst/>
              <a:cxnLst/>
              <a:rect l="l" t="t" r="r" b="b"/>
              <a:pathLst>
                <a:path w="1293588" h="897899">
                  <a:moveTo>
                    <a:pt x="36254" y="0"/>
                  </a:moveTo>
                  <a:lnTo>
                    <a:pt x="1257334" y="0"/>
                  </a:lnTo>
                  <a:cubicBezTo>
                    <a:pt x="1277356" y="0"/>
                    <a:pt x="1293588" y="16231"/>
                    <a:pt x="1293588" y="36254"/>
                  </a:cubicBezTo>
                  <a:lnTo>
                    <a:pt x="1293588" y="861645"/>
                  </a:lnTo>
                  <a:cubicBezTo>
                    <a:pt x="1293588" y="871260"/>
                    <a:pt x="1289768" y="880482"/>
                    <a:pt x="1282969" y="887281"/>
                  </a:cubicBezTo>
                  <a:cubicBezTo>
                    <a:pt x="1276170" y="894080"/>
                    <a:pt x="1266949" y="897899"/>
                    <a:pt x="1257334" y="897899"/>
                  </a:cubicBezTo>
                  <a:lnTo>
                    <a:pt x="36254" y="897899"/>
                  </a:lnTo>
                  <a:cubicBezTo>
                    <a:pt x="26639" y="897899"/>
                    <a:pt x="17417" y="894080"/>
                    <a:pt x="10619" y="887281"/>
                  </a:cubicBezTo>
                  <a:cubicBezTo>
                    <a:pt x="3820" y="880482"/>
                    <a:pt x="0" y="871260"/>
                    <a:pt x="0" y="861645"/>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id="11" name="TextBox 11"/>
            <p:cNvSpPr txBox="1"/>
            <p:nvPr/>
          </p:nvSpPr>
          <p:spPr>
            <a:xfrm>
              <a:off x="0" y="-47625"/>
              <a:ext cx="1293588" cy="945524"/>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435251" y="6623657"/>
            <a:ext cx="4463107" cy="2428259"/>
          </a:xfrm>
          <a:prstGeom prst="rect">
            <a:avLst/>
          </a:prstGeom>
        </p:spPr>
        <p:txBody>
          <a:bodyPr lIns="0" tIns="0" rIns="0" bIns="0" rtlCol="0" anchor="t">
            <a:spAutoFit/>
          </a:bodyPr>
          <a:lstStyle/>
          <a:p>
            <a:pPr marL="425473" lvl="1" indent="-212737" algn="l">
              <a:lnSpc>
                <a:spcPts val="2758"/>
              </a:lnSpc>
              <a:buFont typeface="Arial"/>
              <a:buChar char="•"/>
            </a:pPr>
            <a:r>
              <a:rPr lang="en-US" sz="1970">
                <a:solidFill>
                  <a:srgbClr val="FFFFFF"/>
                </a:solidFill>
                <a:latin typeface="TT Hoves"/>
                <a:ea typeface="TT Hoves"/>
                <a:cs typeface="TT Hoves"/>
                <a:sym typeface="TT Hoves"/>
              </a:rPr>
              <a:t>A powerful gradient boosting algorithm.</a:t>
            </a:r>
          </a:p>
          <a:p>
            <a:pPr marL="425473" lvl="1" indent="-212737" algn="l">
              <a:lnSpc>
                <a:spcPts val="2758"/>
              </a:lnSpc>
              <a:buFont typeface="Arial"/>
              <a:buChar char="•"/>
            </a:pPr>
            <a:r>
              <a:rPr lang="en-US" sz="1970">
                <a:solidFill>
                  <a:srgbClr val="FFFFFF"/>
                </a:solidFill>
                <a:latin typeface="TT Hoves"/>
                <a:ea typeface="TT Hoves"/>
                <a:cs typeface="TT Hoves"/>
                <a:sym typeface="TT Hoves"/>
              </a:rPr>
              <a:t>Captures non-linear relationships.</a:t>
            </a:r>
          </a:p>
          <a:p>
            <a:pPr marL="425473" lvl="1" indent="-212737" algn="l">
              <a:lnSpc>
                <a:spcPts val="2758"/>
              </a:lnSpc>
              <a:buFont typeface="Arial"/>
              <a:buChar char="•"/>
            </a:pPr>
            <a:r>
              <a:rPr lang="en-US" sz="1970">
                <a:solidFill>
                  <a:srgbClr val="FFFFFF"/>
                </a:solidFill>
                <a:latin typeface="TT Hoves"/>
                <a:ea typeface="TT Hoves"/>
                <a:cs typeface="TT Hoves"/>
                <a:sym typeface="TT Hoves"/>
              </a:rPr>
              <a:t>Works well with engineered features like lag values and rolling statistics.</a:t>
            </a:r>
          </a:p>
          <a:p>
            <a:pPr marL="425473" lvl="1" indent="-212737" algn="l">
              <a:lnSpc>
                <a:spcPts val="2758"/>
              </a:lnSpc>
              <a:buFont typeface="Arial"/>
              <a:buChar char="•"/>
            </a:pPr>
            <a:r>
              <a:rPr lang="en-US" sz="1970">
                <a:solidFill>
                  <a:srgbClr val="FFFFFF"/>
                </a:solidFill>
                <a:latin typeface="TT Hoves"/>
                <a:ea typeface="TT Hoves"/>
                <a:cs typeface="TT Hoves"/>
                <a:sym typeface="TT Hoves"/>
              </a:rPr>
              <a:t>Requires supervised learning format.</a:t>
            </a:r>
          </a:p>
          <a:p>
            <a:pPr algn="l">
              <a:lnSpc>
                <a:spcPts val="2758"/>
              </a:lnSpc>
            </a:pPr>
            <a:endParaRPr lang="en-US" sz="1970">
              <a:solidFill>
                <a:srgbClr val="FFFFFF"/>
              </a:solidFill>
              <a:latin typeface="TT Hoves"/>
              <a:ea typeface="TT Hoves"/>
              <a:cs typeface="TT Hoves"/>
              <a:sym typeface="TT Hoves"/>
            </a:endParaRPr>
          </a:p>
        </p:txBody>
      </p:sp>
      <p:grpSp>
        <p:nvGrpSpPr>
          <p:cNvPr id="13" name="Group 13"/>
          <p:cNvGrpSpPr/>
          <p:nvPr/>
        </p:nvGrpSpPr>
        <p:grpSpPr>
          <a:xfrm>
            <a:off x="11066951" y="1911241"/>
            <a:ext cx="4911591" cy="3413973"/>
            <a:chOff x="0" y="0"/>
            <a:chExt cx="1293588" cy="899154"/>
          </a:xfrm>
        </p:grpSpPr>
        <p:sp>
          <p:nvSpPr>
            <p:cNvPr id="14" name="Freeform 14"/>
            <p:cNvSpPr/>
            <p:nvPr/>
          </p:nvSpPr>
          <p:spPr>
            <a:xfrm>
              <a:off x="0" y="0"/>
              <a:ext cx="1293588" cy="899154"/>
            </a:xfrm>
            <a:custGeom>
              <a:avLst/>
              <a:gdLst/>
              <a:ahLst/>
              <a:cxnLst/>
              <a:rect l="l" t="t" r="r" b="b"/>
              <a:pathLst>
                <a:path w="1293588" h="899154">
                  <a:moveTo>
                    <a:pt x="36254" y="0"/>
                  </a:moveTo>
                  <a:lnTo>
                    <a:pt x="1257334" y="0"/>
                  </a:lnTo>
                  <a:cubicBezTo>
                    <a:pt x="1277356" y="0"/>
                    <a:pt x="1293588" y="16231"/>
                    <a:pt x="1293588" y="36254"/>
                  </a:cubicBezTo>
                  <a:lnTo>
                    <a:pt x="1293588" y="862900"/>
                  </a:lnTo>
                  <a:cubicBezTo>
                    <a:pt x="1293588" y="872515"/>
                    <a:pt x="1289768" y="881736"/>
                    <a:pt x="1282969" y="888535"/>
                  </a:cubicBezTo>
                  <a:cubicBezTo>
                    <a:pt x="1276170" y="895334"/>
                    <a:pt x="1266949" y="899154"/>
                    <a:pt x="1257334" y="899154"/>
                  </a:cubicBezTo>
                  <a:lnTo>
                    <a:pt x="36254" y="899154"/>
                  </a:lnTo>
                  <a:cubicBezTo>
                    <a:pt x="26639" y="899154"/>
                    <a:pt x="17417" y="895334"/>
                    <a:pt x="10619" y="888535"/>
                  </a:cubicBezTo>
                  <a:cubicBezTo>
                    <a:pt x="3820" y="881736"/>
                    <a:pt x="0" y="872515"/>
                    <a:pt x="0" y="862900"/>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id="15" name="TextBox 15"/>
            <p:cNvSpPr txBox="1"/>
            <p:nvPr/>
          </p:nvSpPr>
          <p:spPr>
            <a:xfrm>
              <a:off x="0" y="-47625"/>
              <a:ext cx="1293588" cy="946779"/>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1253402" y="2698735"/>
            <a:ext cx="4725140" cy="2626479"/>
          </a:xfrm>
          <a:prstGeom prst="rect">
            <a:avLst/>
          </a:prstGeom>
        </p:spPr>
        <p:txBody>
          <a:bodyPr lIns="0" tIns="0" rIns="0" bIns="0" rtlCol="0" anchor="t">
            <a:spAutoFit/>
          </a:bodyPr>
          <a:lstStyle/>
          <a:p>
            <a:pPr marL="460759" lvl="1" indent="-230379" algn="l">
              <a:lnSpc>
                <a:spcPts val="2987"/>
              </a:lnSpc>
              <a:buFont typeface="Arial"/>
              <a:buChar char="•"/>
            </a:pPr>
            <a:r>
              <a:rPr lang="en-US" sz="2134">
                <a:solidFill>
                  <a:srgbClr val="FFFFFF"/>
                </a:solidFill>
                <a:latin typeface="TT Hoves"/>
                <a:ea typeface="TT Hoves"/>
                <a:cs typeface="TT Hoves"/>
                <a:sym typeface="TT Hoves"/>
              </a:rPr>
              <a:t>Extension of ARIMA with seasonal components.</a:t>
            </a:r>
          </a:p>
          <a:p>
            <a:pPr marL="460759" lvl="1" indent="-230379" algn="l">
              <a:lnSpc>
                <a:spcPts val="2987"/>
              </a:lnSpc>
              <a:buFont typeface="Arial"/>
              <a:buChar char="•"/>
            </a:pPr>
            <a:r>
              <a:rPr lang="en-US" sz="2134">
                <a:solidFill>
                  <a:srgbClr val="FFFFFF"/>
                </a:solidFill>
                <a:latin typeface="TT Hoves"/>
                <a:ea typeface="TT Hoves"/>
                <a:cs typeface="TT Hoves"/>
                <a:sym typeface="TT Hoves"/>
              </a:rPr>
              <a:t>Captures repeating seasonal patterns.</a:t>
            </a:r>
          </a:p>
          <a:p>
            <a:pPr marL="460759" lvl="1" indent="-230379" algn="l">
              <a:lnSpc>
                <a:spcPts val="2987"/>
              </a:lnSpc>
              <a:buFont typeface="Arial"/>
              <a:buChar char="•"/>
            </a:pPr>
            <a:r>
              <a:rPr lang="en-US" sz="2134">
                <a:solidFill>
                  <a:srgbClr val="FFFFFF"/>
                </a:solidFill>
                <a:latin typeface="TT Hoves"/>
                <a:ea typeface="TT Hoves"/>
                <a:cs typeface="TT Hoves"/>
                <a:sym typeface="TT Hoves"/>
              </a:rPr>
              <a:t>Suitable when seasonality is present.</a:t>
            </a:r>
          </a:p>
          <a:p>
            <a:pPr algn="l">
              <a:lnSpc>
                <a:spcPts val="2987"/>
              </a:lnSpc>
            </a:pPr>
            <a:endParaRPr lang="en-US" sz="2134">
              <a:solidFill>
                <a:srgbClr val="FFFFFF"/>
              </a:solidFill>
              <a:latin typeface="TT Hoves"/>
              <a:ea typeface="TT Hoves"/>
              <a:cs typeface="TT Hoves"/>
              <a:sym typeface="TT Hoves"/>
            </a:endParaRPr>
          </a:p>
        </p:txBody>
      </p:sp>
      <p:sp>
        <p:nvSpPr>
          <p:cNvPr id="17" name="TextBox 17"/>
          <p:cNvSpPr txBox="1"/>
          <p:nvPr/>
        </p:nvSpPr>
        <p:spPr>
          <a:xfrm>
            <a:off x="11546068" y="2152597"/>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SARIMA</a:t>
            </a:r>
          </a:p>
        </p:txBody>
      </p:sp>
      <p:grpSp>
        <p:nvGrpSpPr>
          <p:cNvPr id="18" name="Group 18"/>
          <p:cNvGrpSpPr/>
          <p:nvPr/>
        </p:nvGrpSpPr>
        <p:grpSpPr>
          <a:xfrm>
            <a:off x="11160177" y="5814755"/>
            <a:ext cx="4911591" cy="3356859"/>
            <a:chOff x="0" y="0"/>
            <a:chExt cx="1293588" cy="884111"/>
          </a:xfrm>
        </p:grpSpPr>
        <p:sp>
          <p:nvSpPr>
            <p:cNvPr id="19" name="Freeform 19"/>
            <p:cNvSpPr/>
            <p:nvPr/>
          </p:nvSpPr>
          <p:spPr>
            <a:xfrm>
              <a:off x="0" y="0"/>
              <a:ext cx="1293588" cy="884111"/>
            </a:xfrm>
            <a:custGeom>
              <a:avLst/>
              <a:gdLst/>
              <a:ahLst/>
              <a:cxnLst/>
              <a:rect l="l" t="t" r="r" b="b"/>
              <a:pathLst>
                <a:path w="1293588" h="884111">
                  <a:moveTo>
                    <a:pt x="36254" y="0"/>
                  </a:moveTo>
                  <a:lnTo>
                    <a:pt x="1257334" y="0"/>
                  </a:lnTo>
                  <a:cubicBezTo>
                    <a:pt x="1277356" y="0"/>
                    <a:pt x="1293588" y="16231"/>
                    <a:pt x="1293588" y="36254"/>
                  </a:cubicBezTo>
                  <a:lnTo>
                    <a:pt x="1293588" y="847857"/>
                  </a:lnTo>
                  <a:cubicBezTo>
                    <a:pt x="1293588" y="857472"/>
                    <a:pt x="1289768" y="866693"/>
                    <a:pt x="1282969" y="873492"/>
                  </a:cubicBezTo>
                  <a:cubicBezTo>
                    <a:pt x="1276170" y="880291"/>
                    <a:pt x="1266949" y="884111"/>
                    <a:pt x="1257334" y="884111"/>
                  </a:cubicBezTo>
                  <a:lnTo>
                    <a:pt x="36254" y="884111"/>
                  </a:lnTo>
                  <a:cubicBezTo>
                    <a:pt x="26639" y="884111"/>
                    <a:pt x="17417" y="880291"/>
                    <a:pt x="10619" y="873492"/>
                  </a:cubicBezTo>
                  <a:cubicBezTo>
                    <a:pt x="3820" y="866693"/>
                    <a:pt x="0" y="857472"/>
                    <a:pt x="0" y="8478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id="20" name="TextBox 20"/>
            <p:cNvSpPr txBox="1"/>
            <p:nvPr/>
          </p:nvSpPr>
          <p:spPr>
            <a:xfrm>
              <a:off x="0" y="-47625"/>
              <a:ext cx="1293588" cy="931736"/>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11253402" y="6981986"/>
            <a:ext cx="4561173" cy="2541904"/>
          </a:xfrm>
          <a:prstGeom prst="rect">
            <a:avLst/>
          </a:prstGeom>
        </p:spPr>
        <p:txBody>
          <a:bodyPr lIns="0" tIns="0" rIns="0" bIns="0" rtlCol="0" anchor="t">
            <a:spAutoFit/>
          </a:bodyPr>
          <a:lstStyle/>
          <a:p>
            <a:pPr marL="445703" lvl="1" indent="-222852" algn="l">
              <a:lnSpc>
                <a:spcPts val="2890"/>
              </a:lnSpc>
              <a:buFont typeface="Arial"/>
              <a:buChar char="•"/>
            </a:pPr>
            <a:r>
              <a:rPr lang="en-US" sz="2064">
                <a:solidFill>
                  <a:srgbClr val="FFFFFF"/>
                </a:solidFill>
                <a:latin typeface="TT Hoves"/>
                <a:ea typeface="TT Hoves"/>
                <a:cs typeface="TT Hoves"/>
                <a:sym typeface="TT Hoves"/>
              </a:rPr>
              <a:t>A type of recurrent neural network.</a:t>
            </a:r>
          </a:p>
          <a:p>
            <a:pPr marL="445703" lvl="1" indent="-222852" algn="l">
              <a:lnSpc>
                <a:spcPts val="2890"/>
              </a:lnSpc>
              <a:buFont typeface="Arial"/>
              <a:buChar char="•"/>
            </a:pPr>
            <a:r>
              <a:rPr lang="en-US" sz="2064">
                <a:solidFill>
                  <a:srgbClr val="FFFFFF"/>
                </a:solidFill>
                <a:latin typeface="TT Hoves"/>
                <a:ea typeface="TT Hoves"/>
                <a:cs typeface="TT Hoves"/>
                <a:sym typeface="TT Hoves"/>
              </a:rPr>
              <a:t>Designed for sequence data.</a:t>
            </a:r>
          </a:p>
          <a:p>
            <a:pPr marL="445703" lvl="1" indent="-222852" algn="l">
              <a:lnSpc>
                <a:spcPts val="2890"/>
              </a:lnSpc>
              <a:buFont typeface="Arial"/>
              <a:buChar char="•"/>
            </a:pPr>
            <a:r>
              <a:rPr lang="en-US" sz="2064">
                <a:solidFill>
                  <a:srgbClr val="FFFFFF"/>
                </a:solidFill>
                <a:latin typeface="TT Hoves"/>
                <a:ea typeface="TT Hoves"/>
                <a:cs typeface="TT Hoves"/>
                <a:sym typeface="TT Hoves"/>
              </a:rPr>
              <a:t>Can learn long-term dependencies.</a:t>
            </a:r>
          </a:p>
          <a:p>
            <a:pPr marL="445703" lvl="1" indent="-222852" algn="l">
              <a:lnSpc>
                <a:spcPts val="2890"/>
              </a:lnSpc>
              <a:buFont typeface="Arial"/>
              <a:buChar char="•"/>
            </a:pPr>
            <a:r>
              <a:rPr lang="en-US" sz="2064">
                <a:solidFill>
                  <a:srgbClr val="FFFFFF"/>
                </a:solidFill>
                <a:latin typeface="TT Hoves"/>
                <a:ea typeface="TT Hoves"/>
                <a:cs typeface="TT Hoves"/>
                <a:sym typeface="TT Hoves"/>
              </a:rPr>
              <a:t>Suitable for non-stationary and non-linear patterns.</a:t>
            </a:r>
          </a:p>
          <a:p>
            <a:pPr algn="l">
              <a:lnSpc>
                <a:spcPts val="2890"/>
              </a:lnSpc>
            </a:pPr>
            <a:endParaRPr lang="en-US" sz="2064">
              <a:solidFill>
                <a:srgbClr val="FFFFFF"/>
              </a:solidFill>
              <a:latin typeface="TT Hoves"/>
              <a:ea typeface="TT Hoves"/>
              <a:cs typeface="TT Hoves"/>
              <a:sym typeface="TT Hoves"/>
            </a:endParaRPr>
          </a:p>
          <a:p>
            <a:pPr algn="l">
              <a:lnSpc>
                <a:spcPts val="2890"/>
              </a:lnSpc>
            </a:pPr>
            <a:endParaRPr lang="en-US" sz="2064">
              <a:solidFill>
                <a:srgbClr val="FFFFFF"/>
              </a:solidFill>
              <a:latin typeface="TT Hoves"/>
              <a:ea typeface="TT Hoves"/>
              <a:cs typeface="TT Hoves"/>
              <a:sym typeface="TT Hoves"/>
            </a:endParaRPr>
          </a:p>
        </p:txBody>
      </p:sp>
      <p:sp>
        <p:nvSpPr>
          <p:cNvPr id="22" name="TextBox 22"/>
          <p:cNvSpPr txBox="1"/>
          <p:nvPr/>
        </p:nvSpPr>
        <p:spPr>
          <a:xfrm>
            <a:off x="2129577" y="5967701"/>
            <a:ext cx="3522938" cy="398780"/>
          </a:xfrm>
          <a:prstGeom prst="rect">
            <a:avLst/>
          </a:prstGeom>
        </p:spPr>
        <p:txBody>
          <a:bodyPr lIns="0" tIns="0" rIns="0" bIns="0" rtlCol="0" anchor="t">
            <a:spAutoFit/>
          </a:bodyPr>
          <a:lstStyle/>
          <a:p>
            <a:pPr algn="ctr">
              <a:lnSpc>
                <a:spcPts val="3219"/>
              </a:lnSpc>
            </a:pPr>
            <a:r>
              <a:rPr lang="en-US" sz="2299">
                <a:solidFill>
                  <a:srgbClr val="75FF82"/>
                </a:solidFill>
                <a:latin typeface="TT Hoves"/>
                <a:ea typeface="TT Hoves"/>
                <a:cs typeface="TT Hoves"/>
                <a:sym typeface="TT Hoves"/>
              </a:rPr>
              <a:t>XGBoost</a:t>
            </a:r>
          </a:p>
        </p:txBody>
      </p:sp>
      <p:sp>
        <p:nvSpPr>
          <p:cNvPr id="23" name="TextBox 23"/>
          <p:cNvSpPr txBox="1"/>
          <p:nvPr/>
        </p:nvSpPr>
        <p:spPr>
          <a:xfrm>
            <a:off x="11854503" y="6063776"/>
            <a:ext cx="3522938" cy="737235"/>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LSTM (Long Short-Term Memory)</a:t>
            </a:r>
          </a:p>
        </p:txBody>
      </p:sp>
      <p:sp>
        <p:nvSpPr>
          <p:cNvPr id="24" name="TextBox 24"/>
          <p:cNvSpPr txBox="1"/>
          <p:nvPr/>
        </p:nvSpPr>
        <p:spPr>
          <a:xfrm>
            <a:off x="6766881" y="3127693"/>
            <a:ext cx="3893462" cy="923919"/>
          </a:xfrm>
          <a:prstGeom prst="rect">
            <a:avLst/>
          </a:prstGeom>
        </p:spPr>
        <p:txBody>
          <a:bodyPr lIns="0" tIns="0" rIns="0" bIns="0" rtlCol="0" anchor="t">
            <a:spAutoFit/>
          </a:bodyPr>
          <a:lstStyle/>
          <a:p>
            <a:pPr algn="ctr">
              <a:lnSpc>
                <a:spcPts val="3763"/>
              </a:lnSpc>
            </a:pPr>
            <a:r>
              <a:rPr lang="en-US" sz="2687">
                <a:solidFill>
                  <a:srgbClr val="75FF82"/>
                </a:solidFill>
                <a:latin typeface="TT Hoves"/>
                <a:ea typeface="TT Hoves"/>
                <a:cs typeface="TT Hoves"/>
                <a:sym typeface="TT Hoves"/>
              </a:rPr>
              <a:t> Statistical Time Series Models</a:t>
            </a:r>
          </a:p>
        </p:txBody>
      </p:sp>
      <p:sp>
        <p:nvSpPr>
          <p:cNvPr id="25" name="TextBox 25"/>
          <p:cNvSpPr txBox="1"/>
          <p:nvPr/>
        </p:nvSpPr>
        <p:spPr>
          <a:xfrm>
            <a:off x="6766881" y="6932918"/>
            <a:ext cx="3893462" cy="976937"/>
          </a:xfrm>
          <a:prstGeom prst="rect">
            <a:avLst/>
          </a:prstGeom>
        </p:spPr>
        <p:txBody>
          <a:bodyPr lIns="0" tIns="0" rIns="0" bIns="0" rtlCol="0" anchor="t">
            <a:spAutoFit/>
          </a:bodyPr>
          <a:lstStyle/>
          <a:p>
            <a:pPr algn="ctr">
              <a:lnSpc>
                <a:spcPts val="3903"/>
              </a:lnSpc>
            </a:pPr>
            <a:r>
              <a:rPr lang="en-US" sz="2787">
                <a:solidFill>
                  <a:srgbClr val="75FF82"/>
                </a:solidFill>
                <a:latin typeface="TT Hoves"/>
                <a:ea typeface="TT Hoves"/>
                <a:cs typeface="TT Hoves"/>
                <a:sym typeface="TT Hoves"/>
              </a:rPr>
              <a:t>Machine Learning / Deep Learning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grpSp>
        <p:nvGrpSpPr>
          <p:cNvPr id="2" name="Group 2"/>
          <p:cNvGrpSpPr/>
          <p:nvPr/>
        </p:nvGrpSpPr>
        <p:grpSpPr>
          <a:xfrm>
            <a:off x="7637434" y="1836995"/>
            <a:ext cx="10066282" cy="9035379"/>
            <a:chOff x="0" y="0"/>
            <a:chExt cx="2651202" cy="2379688"/>
          </a:xfrm>
        </p:grpSpPr>
        <p:sp>
          <p:nvSpPr>
            <p:cNvPr id="3" name="Freeform 3"/>
            <p:cNvSpPr/>
            <p:nvPr/>
          </p:nvSpPr>
          <p:spPr>
            <a:xfrm>
              <a:off x="0" y="0"/>
              <a:ext cx="2651202" cy="2379688"/>
            </a:xfrm>
            <a:custGeom>
              <a:avLst/>
              <a:gdLst/>
              <a:ahLst/>
              <a:cxnLst/>
              <a:rect l="l" t="t" r="r" b="b"/>
              <a:pathLst>
                <a:path w="2651202" h="2379688">
                  <a:moveTo>
                    <a:pt x="27687" y="0"/>
                  </a:moveTo>
                  <a:lnTo>
                    <a:pt x="2623514" y="0"/>
                  </a:lnTo>
                  <a:cubicBezTo>
                    <a:pt x="2638806" y="0"/>
                    <a:pt x="2651202" y="12396"/>
                    <a:pt x="2651202" y="27687"/>
                  </a:cubicBezTo>
                  <a:lnTo>
                    <a:pt x="2651202" y="2352001"/>
                  </a:lnTo>
                  <a:cubicBezTo>
                    <a:pt x="2651202" y="2367292"/>
                    <a:pt x="2638806" y="2379688"/>
                    <a:pt x="2623514" y="2379688"/>
                  </a:cubicBezTo>
                  <a:lnTo>
                    <a:pt x="27687" y="2379688"/>
                  </a:lnTo>
                  <a:cubicBezTo>
                    <a:pt x="12396" y="2379688"/>
                    <a:pt x="0" y="2367292"/>
                    <a:pt x="0" y="2352001"/>
                  </a:cubicBezTo>
                  <a:lnTo>
                    <a:pt x="0" y="27687"/>
                  </a:lnTo>
                  <a:cubicBezTo>
                    <a:pt x="0" y="12396"/>
                    <a:pt x="12396" y="0"/>
                    <a:pt x="27687"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id="4" name="TextBox 4"/>
            <p:cNvSpPr txBox="1"/>
            <p:nvPr/>
          </p:nvSpPr>
          <p:spPr>
            <a:xfrm>
              <a:off x="0" y="-47625"/>
              <a:ext cx="2651202" cy="242731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3467833"/>
            <a:ext cx="4768914" cy="3349267"/>
          </a:xfrm>
          <a:custGeom>
            <a:avLst/>
            <a:gdLst/>
            <a:ahLst/>
            <a:cxnLst/>
            <a:rect l="l" t="t" r="r" b="b"/>
            <a:pathLst>
              <a:path w="4768914" h="3349267">
                <a:moveTo>
                  <a:pt x="0" y="0"/>
                </a:moveTo>
                <a:lnTo>
                  <a:pt x="4768914" y="0"/>
                </a:lnTo>
                <a:lnTo>
                  <a:pt x="4768914" y="3349267"/>
                </a:lnTo>
                <a:lnTo>
                  <a:pt x="0" y="3349267"/>
                </a:lnTo>
                <a:lnTo>
                  <a:pt x="0" y="0"/>
                </a:lnTo>
                <a:close/>
              </a:path>
            </a:pathLst>
          </a:custGeom>
          <a:blipFill>
            <a:blip r:embed="rId2"/>
            <a:stretch>
              <a:fillRect/>
            </a:stretch>
          </a:blipFill>
        </p:spPr>
      </p:sp>
      <p:sp>
        <p:nvSpPr>
          <p:cNvPr id="6" name="Freeform 6"/>
          <p:cNvSpPr/>
          <p:nvPr/>
        </p:nvSpPr>
        <p:spPr>
          <a:xfrm>
            <a:off x="7948491" y="3430550"/>
            <a:ext cx="4672030" cy="2534576"/>
          </a:xfrm>
          <a:custGeom>
            <a:avLst/>
            <a:gdLst/>
            <a:ahLst/>
            <a:cxnLst/>
            <a:rect l="l" t="t" r="r" b="b"/>
            <a:pathLst>
              <a:path w="4672030" h="2534576">
                <a:moveTo>
                  <a:pt x="0" y="0"/>
                </a:moveTo>
                <a:lnTo>
                  <a:pt x="4672030" y="0"/>
                </a:lnTo>
                <a:lnTo>
                  <a:pt x="4672030" y="2534576"/>
                </a:lnTo>
                <a:lnTo>
                  <a:pt x="0" y="2534576"/>
                </a:lnTo>
                <a:lnTo>
                  <a:pt x="0" y="0"/>
                </a:lnTo>
                <a:close/>
              </a:path>
            </a:pathLst>
          </a:custGeom>
          <a:blipFill>
            <a:blip r:embed="rId3"/>
            <a:stretch>
              <a:fillRect/>
            </a:stretch>
          </a:blipFill>
        </p:spPr>
      </p:sp>
      <p:sp>
        <p:nvSpPr>
          <p:cNvPr id="7" name="Freeform 7"/>
          <p:cNvSpPr/>
          <p:nvPr/>
        </p:nvSpPr>
        <p:spPr>
          <a:xfrm>
            <a:off x="12844073" y="3470233"/>
            <a:ext cx="4672030" cy="2534576"/>
          </a:xfrm>
          <a:custGeom>
            <a:avLst/>
            <a:gdLst/>
            <a:ahLst/>
            <a:cxnLst/>
            <a:rect l="l" t="t" r="r" b="b"/>
            <a:pathLst>
              <a:path w="4672030" h="2534576">
                <a:moveTo>
                  <a:pt x="0" y="0"/>
                </a:moveTo>
                <a:lnTo>
                  <a:pt x="4672030" y="0"/>
                </a:lnTo>
                <a:lnTo>
                  <a:pt x="4672030" y="2534576"/>
                </a:lnTo>
                <a:lnTo>
                  <a:pt x="0" y="2534576"/>
                </a:lnTo>
                <a:lnTo>
                  <a:pt x="0" y="0"/>
                </a:lnTo>
                <a:close/>
              </a:path>
            </a:pathLst>
          </a:custGeom>
          <a:blipFill>
            <a:blip r:embed="rId4"/>
            <a:stretch>
              <a:fillRect/>
            </a:stretch>
          </a:blipFill>
        </p:spPr>
      </p:sp>
      <p:sp>
        <p:nvSpPr>
          <p:cNvPr id="8" name="Freeform 8"/>
          <p:cNvSpPr/>
          <p:nvPr/>
        </p:nvSpPr>
        <p:spPr>
          <a:xfrm>
            <a:off x="8048598" y="6598863"/>
            <a:ext cx="4571923" cy="2480268"/>
          </a:xfrm>
          <a:custGeom>
            <a:avLst/>
            <a:gdLst/>
            <a:ahLst/>
            <a:cxnLst/>
            <a:rect l="l" t="t" r="r" b="b"/>
            <a:pathLst>
              <a:path w="4571923" h="2480268">
                <a:moveTo>
                  <a:pt x="0" y="0"/>
                </a:moveTo>
                <a:lnTo>
                  <a:pt x="4571923" y="0"/>
                </a:lnTo>
                <a:lnTo>
                  <a:pt x="4571923" y="2480268"/>
                </a:lnTo>
                <a:lnTo>
                  <a:pt x="0" y="2480268"/>
                </a:lnTo>
                <a:lnTo>
                  <a:pt x="0" y="0"/>
                </a:lnTo>
                <a:close/>
              </a:path>
            </a:pathLst>
          </a:custGeom>
          <a:blipFill>
            <a:blip r:embed="rId5"/>
            <a:stretch>
              <a:fillRect/>
            </a:stretch>
          </a:blipFill>
        </p:spPr>
      </p:sp>
      <p:sp>
        <p:nvSpPr>
          <p:cNvPr id="9" name="Freeform 9"/>
          <p:cNvSpPr/>
          <p:nvPr/>
        </p:nvSpPr>
        <p:spPr>
          <a:xfrm>
            <a:off x="12869231" y="6562346"/>
            <a:ext cx="4646873" cy="2480268"/>
          </a:xfrm>
          <a:custGeom>
            <a:avLst/>
            <a:gdLst/>
            <a:ahLst/>
            <a:cxnLst/>
            <a:rect l="l" t="t" r="r" b="b"/>
            <a:pathLst>
              <a:path w="4646873" h="2480268">
                <a:moveTo>
                  <a:pt x="0" y="0"/>
                </a:moveTo>
                <a:lnTo>
                  <a:pt x="4646872" y="0"/>
                </a:lnTo>
                <a:lnTo>
                  <a:pt x="4646872" y="2480268"/>
                </a:lnTo>
                <a:lnTo>
                  <a:pt x="0" y="2480268"/>
                </a:lnTo>
                <a:lnTo>
                  <a:pt x="0" y="0"/>
                </a:lnTo>
                <a:close/>
              </a:path>
            </a:pathLst>
          </a:custGeom>
          <a:blipFill>
            <a:blip r:embed="rId6"/>
            <a:stretch>
              <a:fillRect/>
            </a:stretch>
          </a:blipFill>
        </p:spPr>
      </p:sp>
      <p:sp>
        <p:nvSpPr>
          <p:cNvPr id="10" name="TextBox 10"/>
          <p:cNvSpPr txBox="1"/>
          <p:nvPr/>
        </p:nvSpPr>
        <p:spPr>
          <a:xfrm>
            <a:off x="1028700" y="580073"/>
            <a:ext cx="15847099" cy="811530"/>
          </a:xfrm>
          <a:prstGeom prst="rect">
            <a:avLst/>
          </a:prstGeom>
        </p:spPr>
        <p:txBody>
          <a:bodyPr lIns="0" tIns="0" rIns="0" bIns="0" rtlCol="0" anchor="t">
            <a:spAutoFit/>
          </a:bodyPr>
          <a:lstStyle/>
          <a:p>
            <a:pPr algn="ctr">
              <a:lnSpc>
                <a:spcPts val="6719"/>
              </a:lnSpc>
            </a:pPr>
            <a:r>
              <a:rPr lang="en-US" sz="4800">
                <a:solidFill>
                  <a:srgbClr val="75FF82"/>
                </a:solidFill>
                <a:latin typeface="TT Hoves"/>
                <a:ea typeface="TT Hoves"/>
                <a:cs typeface="TT Hoves"/>
                <a:sym typeface="TT Hoves"/>
              </a:rPr>
              <a:t>Model Comparison &amp; Evaluation</a:t>
            </a:r>
          </a:p>
        </p:txBody>
      </p:sp>
      <p:sp>
        <p:nvSpPr>
          <p:cNvPr id="11" name="TextBox 11"/>
          <p:cNvSpPr txBox="1"/>
          <p:nvPr/>
        </p:nvSpPr>
        <p:spPr>
          <a:xfrm>
            <a:off x="393210" y="7504313"/>
            <a:ext cx="6841674" cy="2223135"/>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FFFFFF"/>
                </a:solidFill>
                <a:latin typeface="TT Hoves"/>
                <a:ea typeface="TT Hoves"/>
                <a:cs typeface="TT Hoves"/>
                <a:sym typeface="TT Hoves"/>
              </a:rPr>
              <a:t>ARIMA and SARIMA show similar performance.</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XGBoost has higher RMSE, indicating weaker long-horizon accuracy.</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LSTM significantly outperforms other models.</a:t>
            </a:r>
          </a:p>
          <a:p>
            <a:pPr marL="453390" lvl="1" indent="-226695" algn="l">
              <a:lnSpc>
                <a:spcPts val="2940"/>
              </a:lnSpc>
              <a:buFont typeface="Arial"/>
              <a:buChar char="•"/>
            </a:pPr>
            <a:r>
              <a:rPr lang="en-US" sz="2100">
                <a:solidFill>
                  <a:srgbClr val="FFFFFF"/>
                </a:solidFill>
                <a:latin typeface="TT Hoves"/>
                <a:ea typeface="TT Hoves"/>
                <a:cs typeface="TT Hoves"/>
                <a:sym typeface="TT Hoves"/>
              </a:rPr>
              <a:t>LSTM predictions follow the actual trend more closely.</a:t>
            </a:r>
          </a:p>
          <a:p>
            <a:pPr algn="l">
              <a:lnSpc>
                <a:spcPts val="2940"/>
              </a:lnSpc>
            </a:pPr>
            <a:endParaRPr lang="en-US" sz="2100">
              <a:solidFill>
                <a:srgbClr val="FFFFFF"/>
              </a:solidFill>
              <a:latin typeface="TT Hoves"/>
              <a:ea typeface="TT Hoves"/>
              <a:cs typeface="TT Hoves"/>
              <a:sym typeface="TT Hoves"/>
            </a:endParaRPr>
          </a:p>
        </p:txBody>
      </p:sp>
      <p:sp>
        <p:nvSpPr>
          <p:cNvPr id="12" name="TextBox 12"/>
          <p:cNvSpPr txBox="1"/>
          <p:nvPr/>
        </p:nvSpPr>
        <p:spPr>
          <a:xfrm>
            <a:off x="393210" y="2080533"/>
            <a:ext cx="6841674" cy="811530"/>
          </a:xfrm>
          <a:prstGeom prst="rect">
            <a:avLst/>
          </a:prstGeom>
        </p:spPr>
        <p:txBody>
          <a:bodyPr lIns="0" tIns="0" rIns="0" bIns="0" rtlCol="0" anchor="t">
            <a:spAutoFit/>
          </a:bodyPr>
          <a:lstStyle/>
          <a:p>
            <a:pPr algn="l">
              <a:lnSpc>
                <a:spcPts val="6719"/>
              </a:lnSpc>
            </a:pPr>
            <a:r>
              <a:rPr lang="en-US" sz="4800">
                <a:solidFill>
                  <a:srgbClr val="FFFFFF"/>
                </a:solidFill>
                <a:latin typeface="TT Hoves"/>
                <a:ea typeface="TT Hoves"/>
                <a:cs typeface="TT Hoves"/>
                <a:sym typeface="TT Hoves"/>
              </a:rPr>
              <a:t>Quantitative Comparison</a:t>
            </a:r>
          </a:p>
        </p:txBody>
      </p:sp>
      <p:sp>
        <p:nvSpPr>
          <p:cNvPr id="13" name="TextBox 13"/>
          <p:cNvSpPr txBox="1"/>
          <p:nvPr/>
        </p:nvSpPr>
        <p:spPr>
          <a:xfrm>
            <a:off x="10775922" y="1984467"/>
            <a:ext cx="4584785" cy="811530"/>
          </a:xfrm>
          <a:prstGeom prst="rect">
            <a:avLst/>
          </a:prstGeom>
        </p:spPr>
        <p:txBody>
          <a:bodyPr lIns="0" tIns="0" rIns="0" bIns="0" rtlCol="0" anchor="t">
            <a:spAutoFit/>
          </a:bodyPr>
          <a:lstStyle/>
          <a:p>
            <a:pPr algn="ctr">
              <a:lnSpc>
                <a:spcPts val="6719"/>
              </a:lnSpc>
            </a:pPr>
            <a:r>
              <a:rPr lang="en-US" sz="4800">
                <a:solidFill>
                  <a:srgbClr val="FFFFFF"/>
                </a:solidFill>
                <a:latin typeface="TT Hoves"/>
                <a:ea typeface="TT Hoves"/>
                <a:cs typeface="TT Hoves"/>
                <a:sym typeface="TT Hoves"/>
              </a:rPr>
              <a:t>Prediction</a:t>
            </a:r>
          </a:p>
        </p:txBody>
      </p:sp>
      <p:sp>
        <p:nvSpPr>
          <p:cNvPr id="14" name="TextBox 14"/>
          <p:cNvSpPr txBox="1"/>
          <p:nvPr/>
        </p:nvSpPr>
        <p:spPr>
          <a:xfrm>
            <a:off x="9247492" y="2844438"/>
            <a:ext cx="1138471" cy="490862"/>
          </a:xfrm>
          <a:prstGeom prst="rect">
            <a:avLst/>
          </a:prstGeom>
        </p:spPr>
        <p:txBody>
          <a:bodyPr lIns="0" tIns="0" rIns="0" bIns="0" rtlCol="0" anchor="t">
            <a:spAutoFit/>
          </a:bodyPr>
          <a:lstStyle/>
          <a:p>
            <a:pPr algn="ctr">
              <a:lnSpc>
                <a:spcPts val="4074"/>
              </a:lnSpc>
            </a:pPr>
            <a:r>
              <a:rPr lang="en-US" sz="2910">
                <a:solidFill>
                  <a:srgbClr val="75FF82"/>
                </a:solidFill>
                <a:latin typeface="TT Hoves"/>
                <a:ea typeface="TT Hoves"/>
                <a:cs typeface="TT Hoves"/>
                <a:sym typeface="TT Hoves"/>
              </a:rPr>
              <a:t>ARIMA</a:t>
            </a:r>
          </a:p>
        </p:txBody>
      </p:sp>
      <p:sp>
        <p:nvSpPr>
          <p:cNvPr id="15" name="TextBox 15"/>
          <p:cNvSpPr txBox="1"/>
          <p:nvPr/>
        </p:nvSpPr>
        <p:spPr>
          <a:xfrm>
            <a:off x="14500887" y="2865071"/>
            <a:ext cx="1358401" cy="490862"/>
          </a:xfrm>
          <a:prstGeom prst="rect">
            <a:avLst/>
          </a:prstGeom>
        </p:spPr>
        <p:txBody>
          <a:bodyPr lIns="0" tIns="0" rIns="0" bIns="0" rtlCol="0" anchor="t">
            <a:spAutoFit/>
          </a:bodyPr>
          <a:lstStyle/>
          <a:p>
            <a:pPr algn="ctr">
              <a:lnSpc>
                <a:spcPts val="4074"/>
              </a:lnSpc>
            </a:pPr>
            <a:r>
              <a:rPr lang="en-US" sz="2910">
                <a:solidFill>
                  <a:srgbClr val="75FF82"/>
                </a:solidFill>
                <a:latin typeface="TT Hoves"/>
                <a:ea typeface="TT Hoves"/>
                <a:cs typeface="TT Hoves"/>
                <a:sym typeface="TT Hoves"/>
              </a:rPr>
              <a:t>SARIMA</a:t>
            </a:r>
          </a:p>
        </p:txBody>
      </p:sp>
      <p:sp>
        <p:nvSpPr>
          <p:cNvPr id="16" name="TextBox 16"/>
          <p:cNvSpPr txBox="1"/>
          <p:nvPr/>
        </p:nvSpPr>
        <p:spPr>
          <a:xfrm>
            <a:off x="9804909" y="6012751"/>
            <a:ext cx="959195" cy="490862"/>
          </a:xfrm>
          <a:prstGeom prst="rect">
            <a:avLst/>
          </a:prstGeom>
        </p:spPr>
        <p:txBody>
          <a:bodyPr lIns="0" tIns="0" rIns="0" bIns="0" rtlCol="0" anchor="t">
            <a:spAutoFit/>
          </a:bodyPr>
          <a:lstStyle/>
          <a:p>
            <a:pPr algn="ctr">
              <a:lnSpc>
                <a:spcPts val="4074"/>
              </a:lnSpc>
            </a:pPr>
            <a:r>
              <a:rPr lang="en-US" sz="2910">
                <a:solidFill>
                  <a:srgbClr val="75FF82"/>
                </a:solidFill>
                <a:latin typeface="TT Hoves"/>
                <a:ea typeface="TT Hoves"/>
                <a:cs typeface="TT Hoves"/>
                <a:sym typeface="TT Hoves"/>
              </a:rPr>
              <a:t>LSTM</a:t>
            </a:r>
          </a:p>
        </p:txBody>
      </p:sp>
      <p:sp>
        <p:nvSpPr>
          <p:cNvPr id="17" name="TextBox 17"/>
          <p:cNvSpPr txBox="1"/>
          <p:nvPr/>
        </p:nvSpPr>
        <p:spPr>
          <a:xfrm>
            <a:off x="14636216" y="6071484"/>
            <a:ext cx="1448984" cy="490862"/>
          </a:xfrm>
          <a:prstGeom prst="rect">
            <a:avLst/>
          </a:prstGeom>
        </p:spPr>
        <p:txBody>
          <a:bodyPr lIns="0" tIns="0" rIns="0" bIns="0" rtlCol="0" anchor="t">
            <a:spAutoFit/>
          </a:bodyPr>
          <a:lstStyle/>
          <a:p>
            <a:pPr algn="ctr">
              <a:lnSpc>
                <a:spcPts val="4074"/>
              </a:lnSpc>
            </a:pPr>
            <a:r>
              <a:rPr lang="en-US" sz="2910">
                <a:solidFill>
                  <a:srgbClr val="75FF82"/>
                </a:solidFill>
                <a:latin typeface="TT Hoves"/>
                <a:ea typeface="TT Hoves"/>
                <a:cs typeface="TT Hoves"/>
                <a:sym typeface="TT Hoves"/>
              </a:rPr>
              <a:t>XGBoost</a:t>
            </a:r>
          </a:p>
        </p:txBody>
      </p:sp>
      <p:sp>
        <p:nvSpPr>
          <p:cNvPr id="18" name="TextBox 18"/>
          <p:cNvSpPr txBox="1"/>
          <p:nvPr/>
        </p:nvSpPr>
        <p:spPr>
          <a:xfrm>
            <a:off x="8035174" y="9244169"/>
            <a:ext cx="10066282" cy="928457"/>
          </a:xfrm>
          <a:prstGeom prst="rect">
            <a:avLst/>
          </a:prstGeom>
        </p:spPr>
        <p:txBody>
          <a:bodyPr lIns="0" tIns="0" rIns="0" bIns="0" rtlCol="0" anchor="t">
            <a:spAutoFit/>
          </a:bodyPr>
          <a:lstStyle/>
          <a:p>
            <a:pPr marL="380440" lvl="1" indent="-190220" algn="l">
              <a:lnSpc>
                <a:spcPts val="2466"/>
              </a:lnSpc>
              <a:buFont typeface="Arial"/>
              <a:buChar char="•"/>
            </a:pPr>
            <a:r>
              <a:rPr lang="en-US" sz="1762">
                <a:solidFill>
                  <a:srgbClr val="FFFFFF"/>
                </a:solidFill>
                <a:latin typeface="TT Hoves"/>
                <a:ea typeface="TT Hoves"/>
                <a:cs typeface="TT Hoves"/>
                <a:sym typeface="TT Hoves"/>
              </a:rPr>
              <a:t>ARIMA &amp; SARIMA: Capture general trend but miss sharp variations.</a:t>
            </a:r>
          </a:p>
          <a:p>
            <a:pPr marL="380440" lvl="1" indent="-190220" algn="l">
              <a:lnSpc>
                <a:spcPts val="2466"/>
              </a:lnSpc>
              <a:buFont typeface="Arial"/>
              <a:buChar char="•"/>
            </a:pPr>
            <a:r>
              <a:rPr lang="en-US" sz="1762">
                <a:solidFill>
                  <a:srgbClr val="FFFFFF"/>
                </a:solidFill>
                <a:latin typeface="TT Hoves"/>
                <a:ea typeface="TT Hoves"/>
                <a:cs typeface="TT Hoves"/>
                <a:sym typeface="TT Hoves"/>
              </a:rPr>
              <a:t>XGBoost: Predictions remain relatively flat and do not follow market movements well.</a:t>
            </a:r>
          </a:p>
          <a:p>
            <a:pPr marL="380440" lvl="1" indent="-190220" algn="l">
              <a:lnSpc>
                <a:spcPts val="2466"/>
              </a:lnSpc>
              <a:buFont typeface="Arial"/>
              <a:buChar char="•"/>
            </a:pPr>
            <a:r>
              <a:rPr lang="en-US" sz="1762">
                <a:solidFill>
                  <a:srgbClr val="FFFFFF"/>
                </a:solidFill>
                <a:latin typeface="TT Hoves"/>
                <a:ea typeface="TT Hoves"/>
                <a:cs typeface="TT Hoves"/>
                <a:sym typeface="TT Hoves"/>
              </a:rPr>
              <a:t>LSTM: Closely tracks the actual price movements.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E1F"/>
        </a:solidFill>
        <a:effectLst/>
      </p:bgPr>
    </p:bg>
    <p:spTree>
      <p:nvGrpSpPr>
        <p:cNvPr id="1" name=""/>
        <p:cNvGrpSpPr/>
        <p:nvPr/>
      </p:nvGrpSpPr>
      <p:grpSpPr>
        <a:xfrm>
          <a:off x="0" y="0"/>
          <a:ext cx="0" cy="0"/>
          <a:chOff x="0" y="0"/>
          <a:chExt cx="0" cy="0"/>
        </a:xfrm>
      </p:grpSpPr>
      <p:sp>
        <p:nvSpPr>
          <p:cNvPr id="2" name="Freeform 2"/>
          <p:cNvSpPr/>
          <p:nvPr/>
        </p:nvSpPr>
        <p:spPr>
          <a:xfrm rot="-507067">
            <a:off x="4478165" y="657185"/>
            <a:ext cx="9135142" cy="9135142"/>
          </a:xfrm>
          <a:custGeom>
            <a:avLst/>
            <a:gdLst/>
            <a:ahLst/>
            <a:cxnLst/>
            <a:rect l="l" t="t" r="r" b="b"/>
            <a:pathLst>
              <a:path w="9135142" h="9135142">
                <a:moveTo>
                  <a:pt x="0" y="0"/>
                </a:moveTo>
                <a:lnTo>
                  <a:pt x="9135142" y="0"/>
                </a:lnTo>
                <a:lnTo>
                  <a:pt x="9135142" y="9135142"/>
                </a:lnTo>
                <a:lnTo>
                  <a:pt x="0" y="9135142"/>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sp>
      <p:sp>
        <p:nvSpPr>
          <p:cNvPr id="3" name="Freeform 3"/>
          <p:cNvSpPr/>
          <p:nvPr/>
        </p:nvSpPr>
        <p:spPr>
          <a:xfrm>
            <a:off x="940184" y="3371446"/>
            <a:ext cx="5203172" cy="2907512"/>
          </a:xfrm>
          <a:custGeom>
            <a:avLst/>
            <a:gdLst/>
            <a:ahLst/>
            <a:cxnLst/>
            <a:rect l="l" t="t" r="r" b="b"/>
            <a:pathLst>
              <a:path w="5203172" h="2907512">
                <a:moveTo>
                  <a:pt x="0" y="0"/>
                </a:moveTo>
                <a:lnTo>
                  <a:pt x="5203172" y="0"/>
                </a:lnTo>
                <a:lnTo>
                  <a:pt x="5203172" y="2907512"/>
                </a:lnTo>
                <a:lnTo>
                  <a:pt x="0" y="2907512"/>
                </a:lnTo>
                <a:lnTo>
                  <a:pt x="0" y="0"/>
                </a:lnTo>
                <a:close/>
              </a:path>
            </a:pathLst>
          </a:custGeom>
          <a:blipFill>
            <a:blip r:embed="rId4"/>
            <a:stretch>
              <a:fillRect l="-2346" r="-2346"/>
            </a:stretch>
          </a:blipFill>
        </p:spPr>
      </p:sp>
      <p:sp>
        <p:nvSpPr>
          <p:cNvPr id="4" name="Freeform 4"/>
          <p:cNvSpPr/>
          <p:nvPr/>
        </p:nvSpPr>
        <p:spPr>
          <a:xfrm>
            <a:off x="6685529" y="3392937"/>
            <a:ext cx="5366803" cy="2864531"/>
          </a:xfrm>
          <a:custGeom>
            <a:avLst/>
            <a:gdLst/>
            <a:ahLst/>
            <a:cxnLst/>
            <a:rect l="l" t="t" r="r" b="b"/>
            <a:pathLst>
              <a:path w="5366803" h="2864531">
                <a:moveTo>
                  <a:pt x="0" y="0"/>
                </a:moveTo>
                <a:lnTo>
                  <a:pt x="5366803" y="0"/>
                </a:lnTo>
                <a:lnTo>
                  <a:pt x="5366803" y="2864531"/>
                </a:lnTo>
                <a:lnTo>
                  <a:pt x="0" y="2864531"/>
                </a:lnTo>
                <a:lnTo>
                  <a:pt x="0" y="0"/>
                </a:lnTo>
                <a:close/>
              </a:path>
            </a:pathLst>
          </a:custGeom>
          <a:blipFill>
            <a:blip r:embed="rId5"/>
            <a:stretch>
              <a:fillRect/>
            </a:stretch>
          </a:blipFill>
        </p:spPr>
      </p:sp>
      <p:sp>
        <p:nvSpPr>
          <p:cNvPr id="5" name="Freeform 5"/>
          <p:cNvSpPr/>
          <p:nvPr/>
        </p:nvSpPr>
        <p:spPr>
          <a:xfrm>
            <a:off x="12354625" y="3439816"/>
            <a:ext cx="5191141" cy="2770771"/>
          </a:xfrm>
          <a:custGeom>
            <a:avLst/>
            <a:gdLst/>
            <a:ahLst/>
            <a:cxnLst/>
            <a:rect l="l" t="t" r="r" b="b"/>
            <a:pathLst>
              <a:path w="5191141" h="2770771">
                <a:moveTo>
                  <a:pt x="0" y="0"/>
                </a:moveTo>
                <a:lnTo>
                  <a:pt x="5191141" y="0"/>
                </a:lnTo>
                <a:lnTo>
                  <a:pt x="5191141" y="2770772"/>
                </a:lnTo>
                <a:lnTo>
                  <a:pt x="0" y="2770772"/>
                </a:lnTo>
                <a:lnTo>
                  <a:pt x="0" y="0"/>
                </a:lnTo>
                <a:close/>
              </a:path>
            </a:pathLst>
          </a:custGeom>
          <a:blipFill>
            <a:blip r:embed="rId6"/>
            <a:stretch>
              <a:fillRect/>
            </a:stretch>
          </a:blipFill>
        </p:spPr>
      </p:sp>
      <p:sp>
        <p:nvSpPr>
          <p:cNvPr id="6" name="TextBox 6"/>
          <p:cNvSpPr txBox="1"/>
          <p:nvPr/>
        </p:nvSpPr>
        <p:spPr>
          <a:xfrm>
            <a:off x="5279458" y="256052"/>
            <a:ext cx="7754974" cy="1597660"/>
          </a:xfrm>
          <a:prstGeom prst="rect">
            <a:avLst/>
          </a:prstGeom>
        </p:spPr>
        <p:txBody>
          <a:bodyPr lIns="0" tIns="0" rIns="0" bIns="0" rtlCol="0" anchor="t">
            <a:spAutoFit/>
          </a:bodyPr>
          <a:lstStyle/>
          <a:p>
            <a:pPr algn="l">
              <a:lnSpc>
                <a:spcPts val="6719"/>
              </a:lnSpc>
            </a:pPr>
            <a:r>
              <a:rPr lang="en-US" sz="4800">
                <a:solidFill>
                  <a:srgbClr val="75FF82"/>
                </a:solidFill>
                <a:latin typeface="TT Hoves"/>
                <a:ea typeface="TT Hoves"/>
                <a:cs typeface="TT Hoves"/>
                <a:sym typeface="TT Hoves"/>
              </a:rPr>
              <a:t>Future Forecast Comparison</a:t>
            </a:r>
          </a:p>
          <a:p>
            <a:pPr algn="ctr">
              <a:lnSpc>
                <a:spcPts val="6160"/>
              </a:lnSpc>
            </a:pPr>
            <a:r>
              <a:rPr lang="en-US" sz="4400">
                <a:solidFill>
                  <a:srgbClr val="75FF82"/>
                </a:solidFill>
                <a:latin typeface="TT Hoves"/>
                <a:ea typeface="TT Hoves"/>
                <a:cs typeface="TT Hoves"/>
                <a:sym typeface="TT Hoves"/>
              </a:rPr>
              <a:t> (ARIMA, SARIMA, XGBoost)</a:t>
            </a:r>
          </a:p>
        </p:txBody>
      </p:sp>
      <p:sp>
        <p:nvSpPr>
          <p:cNvPr id="7" name="TextBox 7"/>
          <p:cNvSpPr txBox="1"/>
          <p:nvPr/>
        </p:nvSpPr>
        <p:spPr>
          <a:xfrm>
            <a:off x="425834" y="2649211"/>
            <a:ext cx="6231872" cy="488314"/>
          </a:xfrm>
          <a:prstGeom prst="rect">
            <a:avLst/>
          </a:prstGeom>
        </p:spPr>
        <p:txBody>
          <a:bodyPr lIns="0" tIns="0" rIns="0" bIns="0" rtlCol="0" anchor="t">
            <a:spAutoFit/>
          </a:bodyPr>
          <a:lstStyle/>
          <a:p>
            <a:pPr algn="ctr">
              <a:lnSpc>
                <a:spcPts val="4060"/>
              </a:lnSpc>
            </a:pPr>
            <a:r>
              <a:rPr lang="en-US" sz="2900">
                <a:solidFill>
                  <a:srgbClr val="75FF82"/>
                </a:solidFill>
                <a:latin typeface="TT Hoves"/>
                <a:ea typeface="TT Hoves"/>
                <a:cs typeface="TT Hoves"/>
                <a:sym typeface="TT Hoves"/>
              </a:rPr>
              <a:t>ARIMA</a:t>
            </a:r>
          </a:p>
        </p:txBody>
      </p:sp>
      <p:sp>
        <p:nvSpPr>
          <p:cNvPr id="8" name="TextBox 8"/>
          <p:cNvSpPr txBox="1"/>
          <p:nvPr/>
        </p:nvSpPr>
        <p:spPr>
          <a:xfrm>
            <a:off x="11834260" y="2649211"/>
            <a:ext cx="6231872" cy="438784"/>
          </a:xfrm>
          <a:prstGeom prst="rect">
            <a:avLst/>
          </a:prstGeom>
        </p:spPr>
        <p:txBody>
          <a:bodyPr lIns="0" tIns="0" rIns="0" bIns="0" rtlCol="0" anchor="t">
            <a:spAutoFit/>
          </a:bodyPr>
          <a:lstStyle/>
          <a:p>
            <a:pPr algn="ctr">
              <a:lnSpc>
                <a:spcPts val="3640"/>
              </a:lnSpc>
            </a:pPr>
            <a:r>
              <a:rPr lang="en-US" sz="2600">
                <a:solidFill>
                  <a:srgbClr val="75FF82"/>
                </a:solidFill>
                <a:latin typeface="TT Hoves"/>
                <a:ea typeface="TT Hoves"/>
                <a:cs typeface="TT Hoves"/>
                <a:sym typeface="TT Hoves"/>
              </a:rPr>
              <a:t>XGBoost</a:t>
            </a:r>
          </a:p>
        </p:txBody>
      </p:sp>
      <p:sp>
        <p:nvSpPr>
          <p:cNvPr id="9" name="TextBox 9"/>
          <p:cNvSpPr txBox="1"/>
          <p:nvPr/>
        </p:nvSpPr>
        <p:spPr>
          <a:xfrm>
            <a:off x="5929800" y="2649211"/>
            <a:ext cx="6231872" cy="438784"/>
          </a:xfrm>
          <a:prstGeom prst="rect">
            <a:avLst/>
          </a:prstGeom>
        </p:spPr>
        <p:txBody>
          <a:bodyPr lIns="0" tIns="0" rIns="0" bIns="0" rtlCol="0" anchor="t">
            <a:spAutoFit/>
          </a:bodyPr>
          <a:lstStyle/>
          <a:p>
            <a:pPr algn="ctr">
              <a:lnSpc>
                <a:spcPts val="3640"/>
              </a:lnSpc>
            </a:pPr>
            <a:r>
              <a:rPr lang="en-US" sz="2600">
                <a:solidFill>
                  <a:srgbClr val="75FF82"/>
                </a:solidFill>
                <a:latin typeface="TT Hoves"/>
                <a:ea typeface="TT Hoves"/>
                <a:cs typeface="TT Hoves"/>
                <a:sym typeface="TT Hoves"/>
              </a:rPr>
              <a:t>SARIMA</a:t>
            </a:r>
          </a:p>
        </p:txBody>
      </p:sp>
      <p:sp>
        <p:nvSpPr>
          <p:cNvPr id="10" name="TextBox 10"/>
          <p:cNvSpPr txBox="1"/>
          <p:nvPr/>
        </p:nvSpPr>
        <p:spPr>
          <a:xfrm>
            <a:off x="1028700" y="6795039"/>
            <a:ext cx="4920923" cy="2463261"/>
          </a:xfrm>
          <a:prstGeom prst="rect">
            <a:avLst/>
          </a:prstGeom>
        </p:spPr>
        <p:txBody>
          <a:bodyPr lIns="0" tIns="0" rIns="0" bIns="0" rtlCol="0" anchor="t">
            <a:spAutoFit/>
          </a:bodyPr>
          <a:lstStyle/>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Produces smooth forecasts.</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Captures overall trend.</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Fails to adapt to sudden price changes.</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Limited in handling non-linear behavior.</a:t>
            </a:r>
          </a:p>
          <a:p>
            <a:pPr algn="l">
              <a:lnSpc>
                <a:spcPts val="2829"/>
              </a:lnSpc>
            </a:pPr>
            <a:endParaRPr lang="en-US" sz="2021">
              <a:solidFill>
                <a:srgbClr val="FFFFFF"/>
              </a:solidFill>
              <a:latin typeface="Canva Sans"/>
              <a:ea typeface="Canva Sans"/>
              <a:cs typeface="Canva Sans"/>
              <a:sym typeface="Canva Sans"/>
            </a:endParaRPr>
          </a:p>
        </p:txBody>
      </p:sp>
      <p:sp>
        <p:nvSpPr>
          <p:cNvPr id="11" name="TextBox 11"/>
          <p:cNvSpPr txBox="1"/>
          <p:nvPr/>
        </p:nvSpPr>
        <p:spPr>
          <a:xfrm>
            <a:off x="6685529" y="6795039"/>
            <a:ext cx="6887782" cy="2091279"/>
          </a:xfrm>
          <a:prstGeom prst="rect">
            <a:avLst/>
          </a:prstGeom>
        </p:spPr>
        <p:txBody>
          <a:bodyPr lIns="0" tIns="0" rIns="0" bIns="0" rtlCol="0" anchor="t">
            <a:spAutoFit/>
          </a:bodyPr>
          <a:lstStyle/>
          <a:p>
            <a:pPr marL="434186" lvl="1" indent="-217093" algn="l">
              <a:lnSpc>
                <a:spcPts val="2815"/>
              </a:lnSpc>
              <a:buFont typeface="Arial"/>
              <a:buChar char="•"/>
            </a:pPr>
            <a:r>
              <a:rPr lang="en-US" sz="2011">
                <a:solidFill>
                  <a:srgbClr val="FFFFFF"/>
                </a:solidFill>
                <a:latin typeface="Canva Sans"/>
                <a:ea typeface="Canva Sans"/>
                <a:cs typeface="Canva Sans"/>
                <a:sym typeface="Canva Sans"/>
              </a:rPr>
              <a:t>Similar behavior to ARIMA with seasonal adjustment.</a:t>
            </a:r>
          </a:p>
          <a:p>
            <a:pPr marL="434186" lvl="1" indent="-217093" algn="l">
              <a:lnSpc>
                <a:spcPts val="2815"/>
              </a:lnSpc>
              <a:buFont typeface="Arial"/>
              <a:buChar char="•"/>
            </a:pPr>
            <a:r>
              <a:rPr lang="en-US" sz="2011">
                <a:solidFill>
                  <a:srgbClr val="FFFFFF"/>
                </a:solidFill>
                <a:latin typeface="Canva Sans"/>
                <a:ea typeface="Canva Sans"/>
                <a:cs typeface="Canva Sans"/>
                <a:sym typeface="Canva Sans"/>
              </a:rPr>
              <a:t>Captures repeating patterns ).</a:t>
            </a:r>
          </a:p>
          <a:p>
            <a:pPr marL="434186" lvl="1" indent="-217093" algn="l">
              <a:lnSpc>
                <a:spcPts val="2815"/>
              </a:lnSpc>
              <a:buFont typeface="Arial"/>
              <a:buChar char="•"/>
            </a:pPr>
            <a:r>
              <a:rPr lang="en-US" sz="2011">
                <a:solidFill>
                  <a:srgbClr val="FFFFFF"/>
                </a:solidFill>
                <a:latin typeface="Canva Sans"/>
                <a:ea typeface="Canva Sans"/>
                <a:cs typeface="Canva Sans"/>
                <a:sym typeface="Canva Sans"/>
              </a:rPr>
              <a:t>Still struggles with sharp fluctuations.</a:t>
            </a:r>
          </a:p>
          <a:p>
            <a:pPr marL="434186" lvl="1" indent="-217093" algn="l">
              <a:lnSpc>
                <a:spcPts val="2815"/>
              </a:lnSpc>
              <a:buFont typeface="Arial"/>
              <a:buChar char="•"/>
            </a:pPr>
            <a:r>
              <a:rPr lang="en-US" sz="2011">
                <a:solidFill>
                  <a:srgbClr val="FFFFFF"/>
                </a:solidFill>
                <a:latin typeface="Canva Sans"/>
                <a:ea typeface="Canva Sans"/>
                <a:cs typeface="Canva Sans"/>
                <a:sym typeface="Canva Sans"/>
              </a:rPr>
              <a:t>Produces smoother predictions.</a:t>
            </a:r>
          </a:p>
          <a:p>
            <a:pPr algn="l">
              <a:lnSpc>
                <a:spcPts val="2815"/>
              </a:lnSpc>
            </a:pPr>
            <a:endParaRPr lang="en-US" sz="2011">
              <a:solidFill>
                <a:srgbClr val="FFFFFF"/>
              </a:solidFill>
              <a:latin typeface="Canva Sans"/>
              <a:ea typeface="Canva Sans"/>
              <a:cs typeface="Canva Sans"/>
              <a:sym typeface="Canva Sans"/>
            </a:endParaRPr>
          </a:p>
        </p:txBody>
      </p:sp>
      <p:sp>
        <p:nvSpPr>
          <p:cNvPr id="12" name="TextBox 12"/>
          <p:cNvSpPr txBox="1"/>
          <p:nvPr/>
        </p:nvSpPr>
        <p:spPr>
          <a:xfrm>
            <a:off x="12354625" y="6795039"/>
            <a:ext cx="5452805" cy="2075276"/>
          </a:xfrm>
          <a:prstGeom prst="rect">
            <a:avLst/>
          </a:prstGeom>
        </p:spPr>
        <p:txBody>
          <a:bodyPr lIns="0" tIns="0" rIns="0" bIns="0" rtlCol="0" anchor="t">
            <a:spAutoFit/>
          </a:bodyPr>
          <a:lstStyle/>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Captures some non-linear relationships.</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Forecasts tend to flatten over time.</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Less responsive to recent market changes.</a:t>
            </a:r>
          </a:p>
          <a:p>
            <a:pPr marL="436378" lvl="1" indent="-218189" algn="l">
              <a:lnSpc>
                <a:spcPts val="2829"/>
              </a:lnSpc>
              <a:buFont typeface="Arial"/>
              <a:buChar char="•"/>
            </a:pPr>
            <a:r>
              <a:rPr lang="en-US" sz="2021">
                <a:solidFill>
                  <a:srgbClr val="FFFFFF"/>
                </a:solidFill>
                <a:latin typeface="Canva Sans"/>
                <a:ea typeface="Canva Sans"/>
                <a:cs typeface="Canva Sans"/>
                <a:sym typeface="Canva Sans"/>
              </a:rPr>
              <a:t>Does not preserve time continuity well.</a:t>
            </a:r>
          </a:p>
          <a:p>
            <a:pPr algn="l">
              <a:lnSpc>
                <a:spcPts val="2549"/>
              </a:lnSpc>
            </a:pPr>
            <a:endParaRPr lang="en-US" sz="2021">
              <a:solidFill>
                <a:srgbClr val="FFFFFF"/>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420907" cy="10287000"/>
            <a:chOff x="0" y="0"/>
            <a:chExt cx="4851597" cy="2709333"/>
          </a:xfrm>
        </p:grpSpPr>
        <p:sp>
          <p:nvSpPr>
            <p:cNvPr id="3" name="Freeform 3"/>
            <p:cNvSpPr/>
            <p:nvPr/>
          </p:nvSpPr>
          <p:spPr>
            <a:xfrm>
              <a:off x="0" y="0"/>
              <a:ext cx="4851597" cy="2709333"/>
            </a:xfrm>
            <a:custGeom>
              <a:avLst/>
              <a:gdLst/>
              <a:ahLst/>
              <a:cxnLst/>
              <a:rect l="l" t="t" r="r" b="b"/>
              <a:pathLst>
                <a:path w="4851597" h="2709333">
                  <a:moveTo>
                    <a:pt x="15130" y="0"/>
                  </a:moveTo>
                  <a:lnTo>
                    <a:pt x="4836467" y="0"/>
                  </a:lnTo>
                  <a:cubicBezTo>
                    <a:pt x="4840480" y="0"/>
                    <a:pt x="4844328" y="1594"/>
                    <a:pt x="4847165" y="4431"/>
                  </a:cubicBezTo>
                  <a:cubicBezTo>
                    <a:pt x="4850003" y="7269"/>
                    <a:pt x="4851597" y="11117"/>
                    <a:pt x="4851597" y="15130"/>
                  </a:cubicBezTo>
                  <a:lnTo>
                    <a:pt x="4851597" y="2694203"/>
                  </a:lnTo>
                  <a:cubicBezTo>
                    <a:pt x="4851597" y="2698216"/>
                    <a:pt x="4850003" y="2702064"/>
                    <a:pt x="4847165" y="2704902"/>
                  </a:cubicBezTo>
                  <a:cubicBezTo>
                    <a:pt x="4844328" y="2707739"/>
                    <a:pt x="4840480" y="2709333"/>
                    <a:pt x="4836467" y="2709333"/>
                  </a:cubicBezTo>
                  <a:lnTo>
                    <a:pt x="15130" y="2709333"/>
                  </a:lnTo>
                  <a:cubicBezTo>
                    <a:pt x="6774" y="2709333"/>
                    <a:pt x="0" y="2702559"/>
                    <a:pt x="0" y="2694203"/>
                  </a:cubicBezTo>
                  <a:lnTo>
                    <a:pt x="0" y="15130"/>
                  </a:lnTo>
                  <a:cubicBezTo>
                    <a:pt x="0" y="11117"/>
                    <a:pt x="1594" y="7269"/>
                    <a:pt x="4431" y="4431"/>
                  </a:cubicBezTo>
                  <a:cubicBezTo>
                    <a:pt x="7269" y="1594"/>
                    <a:pt x="11117" y="0"/>
                    <a:pt x="15130" y="0"/>
                  </a:cubicBezTo>
                  <a:close/>
                </a:path>
              </a:pathLst>
            </a:custGeom>
            <a:gradFill rotWithShape="1">
              <a:gsLst>
                <a:gs pos="0">
                  <a:srgbClr val="000000">
                    <a:alpha val="30000"/>
                  </a:srgbClr>
                </a:gs>
                <a:gs pos="100000">
                  <a:srgbClr val="33CD91">
                    <a:alpha val="30000"/>
                  </a:srgbClr>
                </a:gs>
              </a:gsLst>
              <a:lin ang="2700000"/>
            </a:gradFill>
            <a:ln w="47625" cap="rnd">
              <a:solidFill>
                <a:srgbClr val="BEC2C7">
                  <a:alpha val="29804"/>
                </a:srgbClr>
              </a:solidFill>
              <a:prstDash val="solid"/>
              <a:round/>
            </a:ln>
          </p:spPr>
        </p:sp>
        <p:sp>
          <p:nvSpPr>
            <p:cNvPr id="4" name="TextBox 4"/>
            <p:cNvSpPr txBox="1"/>
            <p:nvPr/>
          </p:nvSpPr>
          <p:spPr>
            <a:xfrm>
              <a:off x="0" y="-47625"/>
              <a:ext cx="4851597" cy="275695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827325" y="3328348"/>
            <a:ext cx="6746446" cy="3659947"/>
          </a:xfrm>
          <a:custGeom>
            <a:avLst/>
            <a:gdLst/>
            <a:ahLst/>
            <a:cxnLst/>
            <a:rect l="l" t="t" r="r" b="b"/>
            <a:pathLst>
              <a:path w="6746446" h="3659947">
                <a:moveTo>
                  <a:pt x="0" y="0"/>
                </a:moveTo>
                <a:lnTo>
                  <a:pt x="6746445" y="0"/>
                </a:lnTo>
                <a:lnTo>
                  <a:pt x="6746445" y="3659947"/>
                </a:lnTo>
                <a:lnTo>
                  <a:pt x="0" y="3659947"/>
                </a:lnTo>
                <a:lnTo>
                  <a:pt x="0" y="0"/>
                </a:lnTo>
                <a:close/>
              </a:path>
            </a:pathLst>
          </a:custGeom>
          <a:blipFill>
            <a:blip r:embed="rId2"/>
            <a:stretch>
              <a:fillRect/>
            </a:stretch>
          </a:blipFill>
        </p:spPr>
      </p:sp>
      <p:sp>
        <p:nvSpPr>
          <p:cNvPr id="6" name="TextBox 6"/>
          <p:cNvSpPr txBox="1"/>
          <p:nvPr/>
        </p:nvSpPr>
        <p:spPr>
          <a:xfrm>
            <a:off x="3649224" y="388752"/>
            <a:ext cx="8989099" cy="1659255"/>
          </a:xfrm>
          <a:prstGeom prst="rect">
            <a:avLst/>
          </a:prstGeom>
        </p:spPr>
        <p:txBody>
          <a:bodyPr lIns="0" tIns="0" rIns="0" bIns="0" rtlCol="0" anchor="t">
            <a:spAutoFit/>
          </a:bodyPr>
          <a:lstStyle/>
          <a:p>
            <a:pPr algn="ctr">
              <a:lnSpc>
                <a:spcPts val="6719"/>
              </a:lnSpc>
            </a:pPr>
            <a:r>
              <a:rPr lang="en-US" sz="4800">
                <a:solidFill>
                  <a:srgbClr val="75FF82"/>
                </a:solidFill>
                <a:latin typeface="TT Hoves"/>
                <a:ea typeface="TT Hoves"/>
                <a:cs typeface="TT Hoves"/>
                <a:sym typeface="TT Hoves"/>
              </a:rPr>
              <a:t>Final Future Forecast (LSTM) &amp; Model Selection</a:t>
            </a:r>
          </a:p>
        </p:txBody>
      </p:sp>
      <p:sp>
        <p:nvSpPr>
          <p:cNvPr id="7" name="TextBox 7"/>
          <p:cNvSpPr txBox="1"/>
          <p:nvPr/>
        </p:nvSpPr>
        <p:spPr>
          <a:xfrm>
            <a:off x="499469" y="5289343"/>
            <a:ext cx="5852181" cy="505158"/>
          </a:xfrm>
          <a:prstGeom prst="rect">
            <a:avLst/>
          </a:prstGeom>
        </p:spPr>
        <p:txBody>
          <a:bodyPr lIns="0" tIns="0" rIns="0" bIns="0" rtlCol="0" anchor="t">
            <a:spAutoFit/>
          </a:bodyPr>
          <a:lstStyle/>
          <a:p>
            <a:pPr algn="ctr">
              <a:lnSpc>
                <a:spcPts val="4181"/>
              </a:lnSpc>
            </a:pPr>
            <a:r>
              <a:rPr lang="en-US" sz="2986">
                <a:solidFill>
                  <a:srgbClr val="75FF82"/>
                </a:solidFill>
                <a:latin typeface="TT Hoves"/>
                <a:ea typeface="TT Hoves"/>
                <a:cs typeface="TT Hoves"/>
                <a:sym typeface="TT Hoves"/>
              </a:rPr>
              <a:t>Final Model Selection</a:t>
            </a:r>
          </a:p>
        </p:txBody>
      </p:sp>
      <p:sp>
        <p:nvSpPr>
          <p:cNvPr id="8" name="TextBox 8"/>
          <p:cNvSpPr txBox="1"/>
          <p:nvPr/>
        </p:nvSpPr>
        <p:spPr>
          <a:xfrm>
            <a:off x="11075348" y="2605227"/>
            <a:ext cx="3840445" cy="490862"/>
          </a:xfrm>
          <a:prstGeom prst="rect">
            <a:avLst/>
          </a:prstGeom>
        </p:spPr>
        <p:txBody>
          <a:bodyPr lIns="0" tIns="0" rIns="0" bIns="0" rtlCol="0" anchor="t">
            <a:spAutoFit/>
          </a:bodyPr>
          <a:lstStyle/>
          <a:p>
            <a:pPr algn="ctr">
              <a:lnSpc>
                <a:spcPts val="4074"/>
              </a:lnSpc>
            </a:pPr>
            <a:r>
              <a:rPr lang="en-US" sz="2910">
                <a:solidFill>
                  <a:srgbClr val="75FF82"/>
                </a:solidFill>
                <a:latin typeface="TT Hoves"/>
                <a:ea typeface="TT Hoves"/>
                <a:cs typeface="TT Hoves"/>
                <a:sym typeface="TT Hoves"/>
              </a:rPr>
              <a:t>Future Forecast (LSTM)</a:t>
            </a:r>
          </a:p>
        </p:txBody>
      </p:sp>
      <p:sp>
        <p:nvSpPr>
          <p:cNvPr id="9" name="TextBox 9"/>
          <p:cNvSpPr txBox="1"/>
          <p:nvPr/>
        </p:nvSpPr>
        <p:spPr>
          <a:xfrm>
            <a:off x="1498046" y="5844304"/>
            <a:ext cx="4853604" cy="3780391"/>
          </a:xfrm>
          <a:prstGeom prst="rect">
            <a:avLst/>
          </a:prstGeom>
        </p:spPr>
        <p:txBody>
          <a:bodyPr lIns="0" tIns="0" rIns="0" bIns="0" rtlCol="0" anchor="t">
            <a:spAutoFit/>
          </a:bodyPr>
          <a:lstStyle/>
          <a:p>
            <a:pPr marL="357556" lvl="1" indent="-178778" algn="l">
              <a:lnSpc>
                <a:spcPts val="2318"/>
              </a:lnSpc>
              <a:buFont typeface="Arial"/>
              <a:buChar char="•"/>
            </a:pPr>
            <a:r>
              <a:rPr lang="en-US" sz="1656">
                <a:solidFill>
                  <a:srgbClr val="FFFFFF"/>
                </a:solidFill>
                <a:latin typeface="TT Hoves"/>
                <a:ea typeface="TT Hoves"/>
                <a:cs typeface="TT Hoves"/>
                <a:sym typeface="TT Hoves"/>
              </a:rPr>
              <a:t>Evaluation Metrics (LSTM):</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MAE: 3.76</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RMSE: 4.88</a:t>
            </a:r>
          </a:p>
          <a:p>
            <a:pPr algn="l">
              <a:lnSpc>
                <a:spcPts val="2318"/>
              </a:lnSpc>
            </a:pPr>
            <a:endParaRPr lang="en-US" sz="1656">
              <a:solidFill>
                <a:srgbClr val="FFFFFF"/>
              </a:solidFill>
              <a:latin typeface="TT Hoves"/>
              <a:ea typeface="TT Hoves"/>
              <a:cs typeface="TT Hoves"/>
              <a:sym typeface="TT Hoves"/>
            </a:endParaRPr>
          </a:p>
          <a:p>
            <a:pPr marL="357556" lvl="1" indent="-178778" algn="l">
              <a:lnSpc>
                <a:spcPts val="2318"/>
              </a:lnSpc>
              <a:buFont typeface="Arial"/>
              <a:buChar char="•"/>
            </a:pPr>
            <a:r>
              <a:rPr lang="en-US" sz="1656">
                <a:solidFill>
                  <a:srgbClr val="FFFFFF"/>
                </a:solidFill>
                <a:latin typeface="TT Hoves"/>
                <a:ea typeface="TT Hoves"/>
                <a:cs typeface="TT Hoves"/>
                <a:sym typeface="TT Hoves"/>
              </a:rPr>
              <a:t>Achieved the lowest error values among all models.</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Captures both short-term fluctuations and long-term trends.</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Handles non-linear and non-stationary patterns effectively.</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Shows better generalization on unseen data.</a:t>
            </a:r>
          </a:p>
          <a:p>
            <a:pPr marL="357556" lvl="1" indent="-178778" algn="l">
              <a:lnSpc>
                <a:spcPts val="2318"/>
              </a:lnSpc>
              <a:buFont typeface="Arial"/>
              <a:buChar char="•"/>
            </a:pPr>
            <a:r>
              <a:rPr lang="en-US" sz="1656">
                <a:solidFill>
                  <a:srgbClr val="FFFFFF"/>
                </a:solidFill>
                <a:latin typeface="TT Hoves"/>
                <a:ea typeface="TT Hoves"/>
                <a:cs typeface="TT Hoves"/>
                <a:sym typeface="TT Hoves"/>
              </a:rPr>
              <a:t>Visually follows the actual price movement more closely.</a:t>
            </a:r>
          </a:p>
        </p:txBody>
      </p:sp>
      <p:sp>
        <p:nvSpPr>
          <p:cNvPr id="10" name="TextBox 10"/>
          <p:cNvSpPr txBox="1"/>
          <p:nvPr/>
        </p:nvSpPr>
        <p:spPr>
          <a:xfrm>
            <a:off x="10032301" y="7360592"/>
            <a:ext cx="6727519" cy="2083128"/>
          </a:xfrm>
          <a:prstGeom prst="rect">
            <a:avLst/>
          </a:prstGeom>
        </p:spPr>
        <p:txBody>
          <a:bodyPr lIns="0" tIns="0" rIns="0" bIns="0" rtlCol="0" anchor="t">
            <a:spAutoFit/>
          </a:bodyPr>
          <a:lstStyle/>
          <a:p>
            <a:pPr marL="509976" lvl="1" indent="-254988" algn="l">
              <a:lnSpc>
                <a:spcPts val="3306"/>
              </a:lnSpc>
              <a:buFont typeface="Arial"/>
              <a:buChar char="•"/>
            </a:pPr>
            <a:r>
              <a:rPr lang="en-US" sz="2362">
                <a:solidFill>
                  <a:srgbClr val="FFFFFF"/>
                </a:solidFill>
                <a:latin typeface="TT Hoves"/>
                <a:ea typeface="TT Hoves"/>
                <a:cs typeface="TT Hoves"/>
                <a:sym typeface="TT Hoves"/>
              </a:rPr>
              <a:t>Forecast follows the recent price trend.</a:t>
            </a:r>
          </a:p>
          <a:p>
            <a:pPr marL="509976" lvl="1" indent="-254988" algn="l">
              <a:lnSpc>
                <a:spcPts val="3306"/>
              </a:lnSpc>
              <a:buFont typeface="Arial"/>
              <a:buChar char="•"/>
            </a:pPr>
            <a:r>
              <a:rPr lang="en-US" sz="2362">
                <a:solidFill>
                  <a:srgbClr val="FFFFFF"/>
                </a:solidFill>
                <a:latin typeface="TT Hoves"/>
                <a:ea typeface="TT Hoves"/>
                <a:cs typeface="TT Hoves"/>
                <a:sym typeface="TT Hoves"/>
              </a:rPr>
              <a:t>Short-term fluctuations are preserved.</a:t>
            </a:r>
          </a:p>
          <a:p>
            <a:pPr marL="509976" lvl="1" indent="-254988" algn="l">
              <a:lnSpc>
                <a:spcPts val="3306"/>
              </a:lnSpc>
              <a:buFont typeface="Arial"/>
              <a:buChar char="•"/>
            </a:pPr>
            <a:r>
              <a:rPr lang="en-US" sz="2362">
                <a:solidFill>
                  <a:srgbClr val="FFFFFF"/>
                </a:solidFill>
                <a:latin typeface="TT Hoves"/>
                <a:ea typeface="TT Hoves"/>
                <a:cs typeface="TT Hoves"/>
                <a:sym typeface="TT Hoves"/>
              </a:rPr>
              <a:t>Transition from historical to future values is smooth.</a:t>
            </a:r>
          </a:p>
          <a:p>
            <a:pPr marL="509976" lvl="1" indent="-254988" algn="l">
              <a:lnSpc>
                <a:spcPts val="3306"/>
              </a:lnSpc>
              <a:buFont typeface="Arial"/>
              <a:buChar char="•"/>
            </a:pPr>
            <a:r>
              <a:rPr lang="en-US" sz="2362">
                <a:solidFill>
                  <a:srgbClr val="FFFFFF"/>
                </a:solidFill>
                <a:latin typeface="TT Hoves"/>
                <a:ea typeface="TT Hoves"/>
                <a:cs typeface="TT Hoves"/>
                <a:sym typeface="TT Hoves"/>
              </a:rPr>
              <a:t>No unrealistic spikes or sudden drops.</a:t>
            </a:r>
          </a:p>
        </p:txBody>
      </p:sp>
      <p:sp>
        <p:nvSpPr>
          <p:cNvPr id="11" name="Freeform 11"/>
          <p:cNvSpPr/>
          <p:nvPr/>
        </p:nvSpPr>
        <p:spPr>
          <a:xfrm rot="-5400000">
            <a:off x="5861458" y="5929018"/>
            <a:ext cx="5469601" cy="904970"/>
          </a:xfrm>
          <a:custGeom>
            <a:avLst/>
            <a:gdLst/>
            <a:ahLst/>
            <a:cxnLst/>
            <a:rect l="l" t="t" r="r" b="b"/>
            <a:pathLst>
              <a:path w="5469601" h="904970">
                <a:moveTo>
                  <a:pt x="0" y="0"/>
                </a:moveTo>
                <a:lnTo>
                  <a:pt x="5469601" y="0"/>
                </a:lnTo>
                <a:lnTo>
                  <a:pt x="5469601" y="904971"/>
                </a:lnTo>
                <a:lnTo>
                  <a:pt x="0" y="904971"/>
                </a:lnTo>
                <a:lnTo>
                  <a:pt x="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499469" y="2371698"/>
            <a:ext cx="5852181" cy="505158"/>
          </a:xfrm>
          <a:prstGeom prst="rect">
            <a:avLst/>
          </a:prstGeom>
        </p:spPr>
        <p:txBody>
          <a:bodyPr lIns="0" tIns="0" rIns="0" bIns="0" rtlCol="0" anchor="t">
            <a:spAutoFit/>
          </a:bodyPr>
          <a:lstStyle/>
          <a:p>
            <a:pPr algn="ctr">
              <a:lnSpc>
                <a:spcPts val="4181"/>
              </a:lnSpc>
            </a:pPr>
            <a:r>
              <a:rPr lang="en-US" sz="2986">
                <a:solidFill>
                  <a:srgbClr val="75FF82"/>
                </a:solidFill>
                <a:latin typeface="TT Hoves"/>
                <a:ea typeface="TT Hoves"/>
                <a:cs typeface="TT Hoves"/>
                <a:sym typeface="TT Hoves"/>
              </a:rPr>
              <a:t>Hyperparameter Tuning</a:t>
            </a:r>
          </a:p>
        </p:txBody>
      </p:sp>
      <p:sp>
        <p:nvSpPr>
          <p:cNvPr id="13" name="TextBox 13"/>
          <p:cNvSpPr txBox="1"/>
          <p:nvPr/>
        </p:nvSpPr>
        <p:spPr>
          <a:xfrm>
            <a:off x="1317572" y="3048464"/>
            <a:ext cx="5864678" cy="1987392"/>
          </a:xfrm>
          <a:prstGeom prst="rect">
            <a:avLst/>
          </a:prstGeom>
        </p:spPr>
        <p:txBody>
          <a:bodyPr lIns="0" tIns="0" rIns="0" bIns="0" rtlCol="0" anchor="t">
            <a:spAutoFit/>
          </a:bodyPr>
          <a:lstStyle/>
          <a:p>
            <a:pPr marL="403012" lvl="1" indent="-201506" algn="l">
              <a:lnSpc>
                <a:spcPts val="2613"/>
              </a:lnSpc>
              <a:buFont typeface="Arial"/>
              <a:buChar char="•"/>
            </a:pPr>
            <a:r>
              <a:rPr lang="en-US" sz="1866">
                <a:solidFill>
                  <a:srgbClr val="FFFFFF"/>
                </a:solidFill>
                <a:latin typeface="TT Hoves"/>
                <a:ea typeface="TT Hoves"/>
                <a:cs typeface="TT Hoves"/>
                <a:sym typeface="TT Hoves"/>
              </a:rPr>
              <a:t>Different values of epochs, batch size, and number of LSTM units were tested.</a:t>
            </a:r>
          </a:p>
          <a:p>
            <a:pPr marL="403012" lvl="1" indent="-201506" algn="l">
              <a:lnSpc>
                <a:spcPts val="2613"/>
              </a:lnSpc>
              <a:buFont typeface="Arial"/>
              <a:buChar char="•"/>
            </a:pPr>
            <a:r>
              <a:rPr lang="en-US" sz="1866">
                <a:solidFill>
                  <a:srgbClr val="FFFFFF"/>
                </a:solidFill>
                <a:latin typeface="TT Hoves"/>
                <a:ea typeface="TT Hoves"/>
                <a:cs typeface="TT Hoves"/>
                <a:sym typeface="TT Hoves"/>
              </a:rPr>
              <a:t>The final configuration was selected based on validation performance.</a:t>
            </a:r>
          </a:p>
          <a:p>
            <a:pPr marL="403012" lvl="1" indent="-201506" algn="l">
              <a:lnSpc>
                <a:spcPts val="2613"/>
              </a:lnSpc>
              <a:buFont typeface="Arial"/>
              <a:buChar char="•"/>
            </a:pPr>
            <a:r>
              <a:rPr lang="en-US" sz="1866">
                <a:solidFill>
                  <a:srgbClr val="FFFFFF"/>
                </a:solidFill>
                <a:latin typeface="TT Hoves"/>
                <a:ea typeface="TT Hoves"/>
                <a:cs typeface="TT Hoves"/>
                <a:sym typeface="TT Hoves"/>
              </a:rPr>
              <a:t>Hyperparameter tuning improved prediction accuracy.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F1E"/>
        </a:solidFill>
        <a:effectLst/>
      </p:bgPr>
    </p:bg>
    <p:spTree>
      <p:nvGrpSpPr>
        <p:cNvPr id="1" name=""/>
        <p:cNvGrpSpPr/>
        <p:nvPr/>
      </p:nvGrpSpPr>
      <p:grpSpPr>
        <a:xfrm>
          <a:off x="0" y="0"/>
          <a:ext cx="0" cy="0"/>
          <a:chOff x="0" y="0"/>
          <a:chExt cx="0" cy="0"/>
        </a:xfrm>
      </p:grpSpPr>
      <p:sp>
        <p:nvSpPr>
          <p:cNvPr id="2" name="Freeform 2"/>
          <p:cNvSpPr/>
          <p:nvPr/>
        </p:nvSpPr>
        <p:spPr>
          <a:xfrm rot="-3445067">
            <a:off x="12662579" y="-14401383"/>
            <a:ext cx="21624619" cy="21624619"/>
          </a:xfrm>
          <a:custGeom>
            <a:avLst/>
            <a:gdLst/>
            <a:ahLst/>
            <a:cxnLst/>
            <a:rect l="l" t="t" r="r" b="b"/>
            <a:pathLst>
              <a:path w="21624619" h="21624619">
                <a:moveTo>
                  <a:pt x="0" y="0"/>
                </a:moveTo>
                <a:lnTo>
                  <a:pt x="21624619" y="0"/>
                </a:lnTo>
                <a:lnTo>
                  <a:pt x="21624619" y="21624619"/>
                </a:lnTo>
                <a:lnTo>
                  <a:pt x="0" y="21624619"/>
                </a:lnTo>
                <a:lnTo>
                  <a:pt x="0" y="0"/>
                </a:lnTo>
                <a:close/>
              </a:path>
            </a:pathLst>
          </a:custGeom>
          <a:blipFill>
            <a:blip r:embed="rId2">
              <a:alphaModFix amt="9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5057858" y="1931322"/>
            <a:ext cx="4566988" cy="1866756"/>
          </a:xfrm>
          <a:custGeom>
            <a:avLst/>
            <a:gdLst/>
            <a:ahLst/>
            <a:cxnLst/>
            <a:rect l="l" t="t" r="r" b="b"/>
            <a:pathLst>
              <a:path w="4566988" h="1866756">
                <a:moveTo>
                  <a:pt x="0" y="0"/>
                </a:moveTo>
                <a:lnTo>
                  <a:pt x="4566988" y="0"/>
                </a:lnTo>
                <a:lnTo>
                  <a:pt x="4566988" y="1866757"/>
                </a:lnTo>
                <a:lnTo>
                  <a:pt x="0" y="1866757"/>
                </a:lnTo>
                <a:lnTo>
                  <a:pt x="0" y="0"/>
                </a:lnTo>
                <a:close/>
              </a:path>
            </a:pathLst>
          </a:custGeom>
          <a:blipFill>
            <a:blip r:embed="rId4"/>
            <a:stretch>
              <a:fillRect/>
            </a:stretch>
          </a:blipFill>
        </p:spPr>
      </p:sp>
      <p:sp>
        <p:nvSpPr>
          <p:cNvPr id="4" name="Freeform 4"/>
          <p:cNvSpPr/>
          <p:nvPr/>
        </p:nvSpPr>
        <p:spPr>
          <a:xfrm>
            <a:off x="5057858" y="3798079"/>
            <a:ext cx="4566988" cy="2546096"/>
          </a:xfrm>
          <a:custGeom>
            <a:avLst/>
            <a:gdLst/>
            <a:ahLst/>
            <a:cxnLst/>
            <a:rect l="l" t="t" r="r" b="b"/>
            <a:pathLst>
              <a:path w="4566988" h="2546096">
                <a:moveTo>
                  <a:pt x="0" y="0"/>
                </a:moveTo>
                <a:lnTo>
                  <a:pt x="4566988" y="0"/>
                </a:lnTo>
                <a:lnTo>
                  <a:pt x="4566988" y="2546095"/>
                </a:lnTo>
                <a:lnTo>
                  <a:pt x="0" y="2546095"/>
                </a:lnTo>
                <a:lnTo>
                  <a:pt x="0" y="0"/>
                </a:lnTo>
                <a:close/>
              </a:path>
            </a:pathLst>
          </a:custGeom>
          <a:blipFill>
            <a:blip r:embed="rId5"/>
            <a:stretch>
              <a:fillRect/>
            </a:stretch>
          </a:blipFill>
        </p:spPr>
      </p:sp>
      <p:sp>
        <p:nvSpPr>
          <p:cNvPr id="5" name="Freeform 5"/>
          <p:cNvSpPr/>
          <p:nvPr/>
        </p:nvSpPr>
        <p:spPr>
          <a:xfrm>
            <a:off x="5057858" y="6276310"/>
            <a:ext cx="4566988" cy="844893"/>
          </a:xfrm>
          <a:custGeom>
            <a:avLst/>
            <a:gdLst/>
            <a:ahLst/>
            <a:cxnLst/>
            <a:rect l="l" t="t" r="r" b="b"/>
            <a:pathLst>
              <a:path w="4566988" h="844893">
                <a:moveTo>
                  <a:pt x="0" y="0"/>
                </a:moveTo>
                <a:lnTo>
                  <a:pt x="4566988" y="0"/>
                </a:lnTo>
                <a:lnTo>
                  <a:pt x="4566988" y="844893"/>
                </a:lnTo>
                <a:lnTo>
                  <a:pt x="0" y="844893"/>
                </a:lnTo>
                <a:lnTo>
                  <a:pt x="0" y="0"/>
                </a:lnTo>
                <a:close/>
              </a:path>
            </a:pathLst>
          </a:custGeom>
          <a:blipFill>
            <a:blip r:embed="rId6"/>
            <a:stretch>
              <a:fillRect/>
            </a:stretch>
          </a:blipFill>
        </p:spPr>
      </p:sp>
      <p:sp>
        <p:nvSpPr>
          <p:cNvPr id="6" name="Freeform 6"/>
          <p:cNvSpPr/>
          <p:nvPr/>
        </p:nvSpPr>
        <p:spPr>
          <a:xfrm>
            <a:off x="5057858" y="7121203"/>
            <a:ext cx="4566988" cy="2700231"/>
          </a:xfrm>
          <a:custGeom>
            <a:avLst/>
            <a:gdLst/>
            <a:ahLst/>
            <a:cxnLst/>
            <a:rect l="l" t="t" r="r" b="b"/>
            <a:pathLst>
              <a:path w="4566988" h="2700231">
                <a:moveTo>
                  <a:pt x="0" y="0"/>
                </a:moveTo>
                <a:lnTo>
                  <a:pt x="4566988" y="0"/>
                </a:lnTo>
                <a:lnTo>
                  <a:pt x="4566988" y="2700231"/>
                </a:lnTo>
                <a:lnTo>
                  <a:pt x="0" y="2700231"/>
                </a:lnTo>
                <a:lnTo>
                  <a:pt x="0" y="0"/>
                </a:lnTo>
                <a:close/>
              </a:path>
            </a:pathLst>
          </a:custGeom>
          <a:blipFill>
            <a:blip r:embed="rId7"/>
            <a:stretch>
              <a:fillRect/>
            </a:stretch>
          </a:blipFill>
        </p:spPr>
      </p:sp>
      <p:sp>
        <p:nvSpPr>
          <p:cNvPr id="7" name="Freeform 7"/>
          <p:cNvSpPr/>
          <p:nvPr/>
        </p:nvSpPr>
        <p:spPr>
          <a:xfrm>
            <a:off x="9984364" y="2722135"/>
            <a:ext cx="4056403" cy="2408489"/>
          </a:xfrm>
          <a:custGeom>
            <a:avLst/>
            <a:gdLst/>
            <a:ahLst/>
            <a:cxnLst/>
            <a:rect l="l" t="t" r="r" b="b"/>
            <a:pathLst>
              <a:path w="4056403" h="2408489">
                <a:moveTo>
                  <a:pt x="0" y="0"/>
                </a:moveTo>
                <a:lnTo>
                  <a:pt x="4056402" y="0"/>
                </a:lnTo>
                <a:lnTo>
                  <a:pt x="4056402" y="2408489"/>
                </a:lnTo>
                <a:lnTo>
                  <a:pt x="0" y="2408489"/>
                </a:lnTo>
                <a:lnTo>
                  <a:pt x="0" y="0"/>
                </a:lnTo>
                <a:close/>
              </a:path>
            </a:pathLst>
          </a:custGeom>
          <a:blipFill>
            <a:blip r:embed="rId8"/>
            <a:stretch>
              <a:fillRect/>
            </a:stretch>
          </a:blipFill>
        </p:spPr>
      </p:sp>
      <p:sp>
        <p:nvSpPr>
          <p:cNvPr id="8" name="TextBox 8"/>
          <p:cNvSpPr txBox="1"/>
          <p:nvPr/>
        </p:nvSpPr>
        <p:spPr>
          <a:xfrm>
            <a:off x="4660049" y="552523"/>
            <a:ext cx="9590078" cy="896620"/>
          </a:xfrm>
          <a:prstGeom prst="rect">
            <a:avLst/>
          </a:prstGeom>
        </p:spPr>
        <p:txBody>
          <a:bodyPr lIns="0" tIns="0" rIns="0" bIns="0" rtlCol="0" anchor="t">
            <a:spAutoFit/>
          </a:bodyPr>
          <a:lstStyle/>
          <a:p>
            <a:pPr algn="ctr">
              <a:lnSpc>
                <a:spcPts val="7279"/>
              </a:lnSpc>
            </a:pPr>
            <a:r>
              <a:rPr lang="en-US" sz="5199">
                <a:solidFill>
                  <a:srgbClr val="75FF82"/>
                </a:solidFill>
                <a:latin typeface="TT Hoves"/>
                <a:ea typeface="TT Hoves"/>
                <a:cs typeface="TT Hoves"/>
                <a:sym typeface="TT Hoves"/>
              </a:rPr>
              <a:t>Deployment</a:t>
            </a:r>
          </a:p>
        </p:txBody>
      </p:sp>
      <p:sp>
        <p:nvSpPr>
          <p:cNvPr id="9" name="TextBox 9"/>
          <p:cNvSpPr txBox="1"/>
          <p:nvPr/>
        </p:nvSpPr>
        <p:spPr>
          <a:xfrm>
            <a:off x="9624846" y="5910550"/>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User Interaction Flow</a:t>
            </a:r>
          </a:p>
        </p:txBody>
      </p:sp>
      <p:sp>
        <p:nvSpPr>
          <p:cNvPr id="10" name="TextBox 10"/>
          <p:cNvSpPr txBox="1"/>
          <p:nvPr/>
        </p:nvSpPr>
        <p:spPr>
          <a:xfrm>
            <a:off x="686159" y="1921583"/>
            <a:ext cx="2613720" cy="365760"/>
          </a:xfrm>
          <a:prstGeom prst="rect">
            <a:avLst/>
          </a:prstGeom>
        </p:spPr>
        <p:txBody>
          <a:bodyPr lIns="0" tIns="0" rIns="0" bIns="0" rtlCol="0" anchor="t">
            <a:spAutoFit/>
          </a:bodyPr>
          <a:lstStyle/>
          <a:p>
            <a:pPr algn="l">
              <a:lnSpc>
                <a:spcPts val="2940"/>
              </a:lnSpc>
            </a:pPr>
            <a:r>
              <a:rPr lang="en-US" sz="2100">
                <a:solidFill>
                  <a:srgbClr val="75FF82"/>
                </a:solidFill>
                <a:latin typeface="TT Hoves"/>
                <a:ea typeface="TT Hoves"/>
                <a:cs typeface="TT Hoves"/>
                <a:sym typeface="TT Hoves"/>
              </a:rPr>
              <a:t>Deployment Overview</a:t>
            </a:r>
          </a:p>
        </p:txBody>
      </p:sp>
      <p:sp>
        <p:nvSpPr>
          <p:cNvPr id="11" name="TextBox 11"/>
          <p:cNvSpPr txBox="1"/>
          <p:nvPr/>
        </p:nvSpPr>
        <p:spPr>
          <a:xfrm>
            <a:off x="16339" y="6651131"/>
            <a:ext cx="3953358" cy="365760"/>
          </a:xfrm>
          <a:prstGeom prst="rect">
            <a:avLst/>
          </a:prstGeom>
        </p:spPr>
        <p:txBody>
          <a:bodyPr lIns="0" tIns="0" rIns="0" bIns="0" rtlCol="0" anchor="t">
            <a:spAutoFit/>
          </a:bodyPr>
          <a:lstStyle/>
          <a:p>
            <a:pPr algn="ctr">
              <a:lnSpc>
                <a:spcPts val="2940"/>
              </a:lnSpc>
            </a:pPr>
            <a:r>
              <a:rPr lang="en-US" sz="2100">
                <a:solidFill>
                  <a:srgbClr val="75FF82"/>
                </a:solidFill>
                <a:latin typeface="TT Hoves"/>
                <a:ea typeface="TT Hoves"/>
                <a:cs typeface="TT Hoves"/>
                <a:sym typeface="TT Hoves"/>
              </a:rPr>
              <a:t>Technologies Used</a:t>
            </a:r>
          </a:p>
        </p:txBody>
      </p:sp>
      <p:sp>
        <p:nvSpPr>
          <p:cNvPr id="12" name="TextBox 12"/>
          <p:cNvSpPr txBox="1"/>
          <p:nvPr/>
        </p:nvSpPr>
        <p:spPr>
          <a:xfrm>
            <a:off x="0" y="2611896"/>
            <a:ext cx="4856379" cy="3521075"/>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TT Hoves"/>
                <a:ea typeface="TT Hoves"/>
                <a:cs typeface="TT Hoves"/>
                <a:sym typeface="TT Hoves"/>
              </a:rPr>
              <a:t>The final LSTM model was deployed as a web-based interactive application.</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The application allows users to select a date range and visualize historical Apple stock prices.</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Users can generate a 30-day future forecast by clicking a button.</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The deployed system provides both graphical and tabular forecast outputs.</a:t>
            </a:r>
          </a:p>
          <a:p>
            <a:pPr algn="l">
              <a:lnSpc>
                <a:spcPts val="2800"/>
              </a:lnSpc>
            </a:pPr>
            <a:endParaRPr lang="en-US" sz="2000">
              <a:solidFill>
                <a:srgbClr val="FFFFFF"/>
              </a:solidFill>
              <a:latin typeface="TT Hoves"/>
              <a:ea typeface="TT Hoves"/>
              <a:cs typeface="TT Hoves"/>
              <a:sym typeface="TT Hoves"/>
            </a:endParaRPr>
          </a:p>
        </p:txBody>
      </p:sp>
      <p:sp>
        <p:nvSpPr>
          <p:cNvPr id="13" name="TextBox 13"/>
          <p:cNvSpPr txBox="1"/>
          <p:nvPr/>
        </p:nvSpPr>
        <p:spPr>
          <a:xfrm>
            <a:off x="9984364" y="6651131"/>
            <a:ext cx="4418353" cy="316865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TT Hoves"/>
                <a:ea typeface="TT Hoves"/>
                <a:cs typeface="TT Hoves"/>
                <a:sym typeface="TT Hoves"/>
              </a:rPr>
              <a:t>User selects a date range.</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Historical prices are displayed.</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User clicks “Forecast Next 30 Days”.</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The model predicts future values recursively.</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Forecasted prices are plotted and displayed in a table.</a:t>
            </a:r>
          </a:p>
          <a:p>
            <a:pPr algn="l">
              <a:lnSpc>
                <a:spcPts val="2800"/>
              </a:lnSpc>
            </a:pPr>
            <a:endParaRPr lang="en-US" sz="2000">
              <a:solidFill>
                <a:srgbClr val="FFFFFF"/>
              </a:solidFill>
              <a:latin typeface="TT Hoves"/>
              <a:ea typeface="TT Hoves"/>
              <a:cs typeface="TT Hoves"/>
              <a:sym typeface="TT Hoves"/>
            </a:endParaRPr>
          </a:p>
        </p:txBody>
      </p:sp>
      <p:sp>
        <p:nvSpPr>
          <p:cNvPr id="14" name="TextBox 14"/>
          <p:cNvSpPr txBox="1"/>
          <p:nvPr/>
        </p:nvSpPr>
        <p:spPr>
          <a:xfrm>
            <a:off x="355910" y="7087985"/>
            <a:ext cx="4144558" cy="2816225"/>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TT Hoves"/>
                <a:ea typeface="TT Hoves"/>
                <a:cs typeface="TT Hoves"/>
                <a:sym typeface="TT Hoves"/>
              </a:rPr>
              <a:t>Frontend &amp; UI: Streamlit</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Backend: Python</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Model: Trained LSTM model (.keras format)</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Data Handling: Pandas, NumPy</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Visualization: Matplotlib</a:t>
            </a:r>
          </a:p>
          <a:p>
            <a:pPr marL="431801" lvl="1" indent="-215900" algn="l">
              <a:lnSpc>
                <a:spcPts val="2800"/>
              </a:lnSpc>
              <a:buFont typeface="Arial"/>
              <a:buChar char="•"/>
            </a:pPr>
            <a:r>
              <a:rPr lang="en-US" sz="2000">
                <a:solidFill>
                  <a:srgbClr val="FFFFFF"/>
                </a:solidFill>
                <a:latin typeface="TT Hoves"/>
                <a:ea typeface="TT Hoves"/>
                <a:cs typeface="TT Hoves"/>
                <a:sym typeface="TT Hoves"/>
              </a:rPr>
              <a:t>Preprocessing: MinMaxScaler</a:t>
            </a:r>
          </a:p>
          <a:p>
            <a:pPr algn="l">
              <a:lnSpc>
                <a:spcPts val="2800"/>
              </a:lnSpc>
            </a:pPr>
            <a:endParaRPr lang="en-US" sz="2000">
              <a:solidFill>
                <a:srgbClr val="FFFFFF"/>
              </a:solidFill>
              <a:latin typeface="TT Hoves"/>
              <a:ea typeface="TT Hoves"/>
              <a:cs typeface="TT Hoves"/>
              <a:sym typeface="TT Hoves"/>
            </a:endParaRPr>
          </a:p>
        </p:txBody>
      </p:sp>
      <p:sp>
        <p:nvSpPr>
          <p:cNvPr id="15" name="TextBox 15"/>
          <p:cNvSpPr txBox="1"/>
          <p:nvPr/>
        </p:nvSpPr>
        <p:spPr>
          <a:xfrm>
            <a:off x="14027410" y="2807550"/>
            <a:ext cx="3953358" cy="398780"/>
          </a:xfrm>
          <a:prstGeom prst="rect">
            <a:avLst/>
          </a:prstGeom>
        </p:spPr>
        <p:txBody>
          <a:bodyPr lIns="0" tIns="0" rIns="0" bIns="0" rtlCol="0" anchor="t">
            <a:spAutoFit/>
          </a:bodyPr>
          <a:lstStyle/>
          <a:p>
            <a:pPr algn="ctr">
              <a:lnSpc>
                <a:spcPts val="3219"/>
              </a:lnSpc>
            </a:pPr>
            <a:r>
              <a:rPr lang="en-US" sz="2299">
                <a:solidFill>
                  <a:srgbClr val="75FF82"/>
                </a:solidFill>
                <a:latin typeface="TT Hoves"/>
                <a:ea typeface="TT Hoves"/>
                <a:cs typeface="TT Hoves"/>
                <a:sym typeface="TT Hoves"/>
              </a:rPr>
              <a:t>Key Functionalities</a:t>
            </a:r>
          </a:p>
        </p:txBody>
      </p:sp>
      <p:sp>
        <p:nvSpPr>
          <p:cNvPr id="16" name="TextBox 16"/>
          <p:cNvSpPr txBox="1"/>
          <p:nvPr/>
        </p:nvSpPr>
        <p:spPr>
          <a:xfrm>
            <a:off x="14402716" y="3528636"/>
            <a:ext cx="3578051" cy="4380842"/>
          </a:xfrm>
          <a:prstGeom prst="rect">
            <a:avLst/>
          </a:prstGeom>
        </p:spPr>
        <p:txBody>
          <a:bodyPr lIns="0" tIns="0" rIns="0" bIns="0" rtlCol="0" anchor="t">
            <a:spAutoFit/>
          </a:bodyPr>
          <a:lstStyle/>
          <a:p>
            <a:pPr marL="386008" lvl="1" indent="-193004" algn="l">
              <a:lnSpc>
                <a:spcPts val="2503"/>
              </a:lnSpc>
              <a:buFont typeface="Arial"/>
              <a:buChar char="•"/>
            </a:pPr>
            <a:r>
              <a:rPr lang="en-US" sz="1787">
                <a:solidFill>
                  <a:srgbClr val="FFFFFF"/>
                </a:solidFill>
                <a:latin typeface="TT Hoves"/>
                <a:ea typeface="TT Hoves"/>
                <a:cs typeface="TT Hoves"/>
                <a:sym typeface="TT Hoves"/>
              </a:rPr>
              <a:t>Date range selection for historical visualization.</a:t>
            </a:r>
          </a:p>
          <a:p>
            <a:pPr marL="386008" lvl="1" indent="-193004" algn="l">
              <a:lnSpc>
                <a:spcPts val="2503"/>
              </a:lnSpc>
              <a:buFont typeface="Arial"/>
              <a:buChar char="•"/>
            </a:pPr>
            <a:r>
              <a:rPr lang="en-US" sz="1787">
                <a:solidFill>
                  <a:srgbClr val="FFFFFF"/>
                </a:solidFill>
                <a:latin typeface="TT Hoves"/>
                <a:ea typeface="TT Hoves"/>
                <a:cs typeface="TT Hoves"/>
                <a:sym typeface="TT Hoves"/>
              </a:rPr>
              <a:t>Dynamic plotting of selected historical prices.</a:t>
            </a:r>
          </a:p>
          <a:p>
            <a:pPr marL="386008" lvl="1" indent="-193004" algn="l">
              <a:lnSpc>
                <a:spcPts val="2503"/>
              </a:lnSpc>
              <a:buFont typeface="Arial"/>
              <a:buChar char="•"/>
            </a:pPr>
            <a:r>
              <a:rPr lang="en-US" sz="1787">
                <a:solidFill>
                  <a:srgbClr val="FFFFFF"/>
                </a:solidFill>
                <a:latin typeface="TT Hoves"/>
                <a:ea typeface="TT Hoves"/>
                <a:cs typeface="TT Hoves"/>
                <a:sym typeface="TT Hoves"/>
              </a:rPr>
              <a:t>Recursive multi-step forecasting for 30 days.</a:t>
            </a:r>
          </a:p>
          <a:p>
            <a:pPr marL="386008" lvl="1" indent="-193004" algn="l">
              <a:lnSpc>
                <a:spcPts val="2503"/>
              </a:lnSpc>
              <a:buFont typeface="Arial"/>
              <a:buChar char="•"/>
            </a:pPr>
            <a:r>
              <a:rPr lang="en-US" sz="1787">
                <a:solidFill>
                  <a:srgbClr val="FFFFFF"/>
                </a:solidFill>
                <a:latin typeface="TT Hoves"/>
                <a:ea typeface="TT Hoves"/>
                <a:cs typeface="TT Hoves"/>
                <a:sym typeface="TT Hoves"/>
              </a:rPr>
              <a:t>Inverse scaling to return predictions to original price scale.</a:t>
            </a:r>
          </a:p>
          <a:p>
            <a:pPr marL="386008" lvl="1" indent="-193004" algn="l">
              <a:lnSpc>
                <a:spcPts val="2503"/>
              </a:lnSpc>
              <a:buFont typeface="Arial"/>
              <a:buChar char="•"/>
            </a:pPr>
            <a:r>
              <a:rPr lang="en-US" sz="1787">
                <a:solidFill>
                  <a:srgbClr val="FFFFFF"/>
                </a:solidFill>
                <a:latin typeface="TT Hoves"/>
                <a:ea typeface="TT Hoves"/>
                <a:cs typeface="TT Hoves"/>
                <a:sym typeface="TT Hoves"/>
              </a:rPr>
              <a:t>Display of predicted values in a table.</a:t>
            </a:r>
          </a:p>
          <a:p>
            <a:pPr marL="386008" lvl="1" indent="-193004" algn="l">
              <a:lnSpc>
                <a:spcPts val="2503"/>
              </a:lnSpc>
              <a:buFont typeface="Arial"/>
              <a:buChar char="•"/>
            </a:pPr>
            <a:r>
              <a:rPr lang="en-US" sz="1787">
                <a:solidFill>
                  <a:srgbClr val="FFFFFF"/>
                </a:solidFill>
                <a:latin typeface="TT Hoves"/>
                <a:ea typeface="TT Hoves"/>
                <a:cs typeface="TT Hoves"/>
                <a:sym typeface="TT Hoves"/>
              </a:rPr>
              <a:t>Visual separation of historical and forecasted regions.</a:t>
            </a:r>
          </a:p>
          <a:p>
            <a:pPr algn="l">
              <a:lnSpc>
                <a:spcPts val="2503"/>
              </a:lnSpc>
            </a:pPr>
            <a:endParaRPr lang="en-US" sz="1787">
              <a:solidFill>
                <a:srgbClr val="FFFFFF"/>
              </a:solidFill>
              <a:latin typeface="TT Hoves"/>
              <a:ea typeface="TT Hoves"/>
              <a:cs typeface="TT Hoves"/>
              <a:sym typeface="TT Hove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sp>
        <p:nvSpPr>
          <p:cNvPr id="2" name="Freeform 2"/>
          <p:cNvSpPr/>
          <p:nvPr/>
        </p:nvSpPr>
        <p:spPr>
          <a:xfrm>
            <a:off x="5661889" y="9082340"/>
            <a:ext cx="6005824" cy="622422"/>
          </a:xfrm>
          <a:custGeom>
            <a:avLst/>
            <a:gdLst/>
            <a:ahLst/>
            <a:cxnLst/>
            <a:rect l="l" t="t" r="r" b="b"/>
            <a:pathLst>
              <a:path w="6005824" h="622422">
                <a:moveTo>
                  <a:pt x="0" y="0"/>
                </a:moveTo>
                <a:lnTo>
                  <a:pt x="6005824" y="0"/>
                </a:lnTo>
                <a:lnTo>
                  <a:pt x="6005824" y="622422"/>
                </a:lnTo>
                <a:lnTo>
                  <a:pt x="0" y="6224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859757" y="570547"/>
            <a:ext cx="8545861" cy="837565"/>
          </a:xfrm>
          <a:prstGeom prst="rect">
            <a:avLst/>
          </a:prstGeom>
        </p:spPr>
        <p:txBody>
          <a:bodyPr lIns="0" tIns="0" rIns="0" bIns="0" rtlCol="0" anchor="t">
            <a:spAutoFit/>
          </a:bodyPr>
          <a:lstStyle/>
          <a:p>
            <a:pPr algn="ctr">
              <a:lnSpc>
                <a:spcPts val="6859"/>
              </a:lnSpc>
            </a:pPr>
            <a:r>
              <a:rPr lang="en-US" sz="4899">
                <a:solidFill>
                  <a:srgbClr val="75FF82"/>
                </a:solidFill>
                <a:latin typeface="TT Hoves"/>
                <a:ea typeface="TT Hoves"/>
                <a:cs typeface="TT Hoves"/>
                <a:sym typeface="TT Hoves"/>
              </a:rPr>
              <a:t>Conclusion</a:t>
            </a:r>
          </a:p>
        </p:txBody>
      </p:sp>
      <p:sp>
        <p:nvSpPr>
          <p:cNvPr id="4" name="TextBox 4"/>
          <p:cNvSpPr txBox="1"/>
          <p:nvPr/>
        </p:nvSpPr>
        <p:spPr>
          <a:xfrm>
            <a:off x="964917" y="2809075"/>
            <a:ext cx="7167771" cy="5435065"/>
          </a:xfrm>
          <a:prstGeom prst="rect">
            <a:avLst/>
          </a:prstGeom>
        </p:spPr>
        <p:txBody>
          <a:bodyPr lIns="0" tIns="0" rIns="0" bIns="0" rtlCol="0" anchor="t">
            <a:spAutoFit/>
          </a:bodyPr>
          <a:lstStyle/>
          <a:p>
            <a:pPr algn="l">
              <a:lnSpc>
                <a:spcPts val="3354"/>
              </a:lnSpc>
            </a:pPr>
            <a:r>
              <a:rPr lang="en-US" sz="2396">
                <a:solidFill>
                  <a:srgbClr val="FFFFFF"/>
                </a:solidFill>
                <a:latin typeface="Belleza"/>
                <a:ea typeface="Belleza"/>
                <a:cs typeface="Belleza"/>
                <a:sym typeface="Belleza"/>
              </a:rPr>
              <a:t>This project focuses on forecasting Apple stock prices using historical time series data. The complete workflow of a data science project was followed, starting from data preprocessing and exploratory data analysis to feature engineering and stationarity analysis. Multiple forecasting models, including ARIMA, SARIMA, XGBoost, and LSTM, were implemented and evaluated using standard error metrics. Based on the comparative analysis, LSTM was selected as the final model due to its superior performance. The selected model was then used to generate a 30-day future forecast and was successfully deployed as an interactive web application, allowing users to visualize historical trends and future predictions.</a:t>
            </a:r>
          </a:p>
        </p:txBody>
      </p:sp>
      <p:sp>
        <p:nvSpPr>
          <p:cNvPr id="5" name="TextBox 5"/>
          <p:cNvSpPr txBox="1"/>
          <p:nvPr/>
        </p:nvSpPr>
        <p:spPr>
          <a:xfrm>
            <a:off x="-1003506" y="1965123"/>
            <a:ext cx="8545861" cy="523874"/>
          </a:xfrm>
          <a:prstGeom prst="rect">
            <a:avLst/>
          </a:prstGeom>
        </p:spPr>
        <p:txBody>
          <a:bodyPr lIns="0" tIns="0" rIns="0" bIns="0" rtlCol="0" anchor="t">
            <a:spAutoFit/>
          </a:bodyPr>
          <a:lstStyle/>
          <a:p>
            <a:pPr algn="ctr">
              <a:lnSpc>
                <a:spcPts val="4200"/>
              </a:lnSpc>
            </a:pPr>
            <a:r>
              <a:rPr lang="en-US" sz="3000">
                <a:solidFill>
                  <a:srgbClr val="75FF82"/>
                </a:solidFill>
                <a:latin typeface="TT Hoves"/>
                <a:ea typeface="TT Hoves"/>
                <a:cs typeface="TT Hoves"/>
                <a:sym typeface="TT Hoves"/>
              </a:rPr>
              <a:t>Project Summary</a:t>
            </a:r>
          </a:p>
        </p:txBody>
      </p:sp>
      <p:sp>
        <p:nvSpPr>
          <p:cNvPr id="6" name="TextBox 6"/>
          <p:cNvSpPr txBox="1"/>
          <p:nvPr/>
        </p:nvSpPr>
        <p:spPr>
          <a:xfrm>
            <a:off x="9176440" y="1965123"/>
            <a:ext cx="8545861" cy="523874"/>
          </a:xfrm>
          <a:prstGeom prst="rect">
            <a:avLst/>
          </a:prstGeom>
        </p:spPr>
        <p:txBody>
          <a:bodyPr lIns="0" tIns="0" rIns="0" bIns="0" rtlCol="0" anchor="t">
            <a:spAutoFit/>
          </a:bodyPr>
          <a:lstStyle/>
          <a:p>
            <a:pPr algn="ctr">
              <a:lnSpc>
                <a:spcPts val="4200"/>
              </a:lnSpc>
            </a:pPr>
            <a:r>
              <a:rPr lang="en-US" sz="3000">
                <a:solidFill>
                  <a:srgbClr val="75FF82"/>
                </a:solidFill>
                <a:latin typeface="TT Hoves"/>
                <a:ea typeface="TT Hoves"/>
                <a:cs typeface="TT Hoves"/>
                <a:sym typeface="TT Hoves"/>
              </a:rPr>
              <a:t>Key Outcomes </a:t>
            </a:r>
          </a:p>
        </p:txBody>
      </p:sp>
      <p:sp>
        <p:nvSpPr>
          <p:cNvPr id="7" name="TextBox 7"/>
          <p:cNvSpPr txBox="1"/>
          <p:nvPr/>
        </p:nvSpPr>
        <p:spPr>
          <a:xfrm>
            <a:off x="10091529" y="2809075"/>
            <a:ext cx="7437577" cy="5880598"/>
          </a:xfrm>
          <a:prstGeom prst="rect">
            <a:avLst/>
          </a:prstGeom>
        </p:spPr>
        <p:txBody>
          <a:bodyPr lIns="0" tIns="0" rIns="0" bIns="0" rtlCol="0" anchor="t">
            <a:spAutoFit/>
          </a:bodyPr>
          <a:lstStyle/>
          <a:p>
            <a:pPr marL="484683" lvl="1" indent="-242342" algn="l">
              <a:lnSpc>
                <a:spcPts val="3142"/>
              </a:lnSpc>
              <a:buFont typeface="Arial"/>
              <a:buChar char="•"/>
            </a:pPr>
            <a:r>
              <a:rPr lang="en-US" sz="2244">
                <a:solidFill>
                  <a:srgbClr val="FFFFFF"/>
                </a:solidFill>
                <a:latin typeface="Belleza"/>
                <a:ea typeface="Belleza"/>
                <a:cs typeface="Belleza"/>
                <a:sym typeface="Belleza"/>
              </a:rPr>
              <a:t>Understood the behavior of stock price data, including trend, volatility, and non-stationarity.</a:t>
            </a:r>
          </a:p>
          <a:p>
            <a:pPr marL="484683" lvl="1" indent="-242342" algn="l">
              <a:lnSpc>
                <a:spcPts val="3142"/>
              </a:lnSpc>
              <a:buFont typeface="Arial"/>
              <a:buChar char="•"/>
            </a:pPr>
            <a:r>
              <a:rPr lang="en-US" sz="2244">
                <a:solidFill>
                  <a:srgbClr val="FFFFFF"/>
                </a:solidFill>
                <a:latin typeface="Belleza"/>
                <a:ea typeface="Belleza"/>
                <a:cs typeface="Belleza"/>
                <a:sym typeface="Belleza"/>
              </a:rPr>
              <a:t>Learned how time series data differs from regular tabular data.</a:t>
            </a:r>
          </a:p>
          <a:p>
            <a:pPr marL="484683" lvl="1" indent="-242342" algn="l">
              <a:lnSpc>
                <a:spcPts val="3142"/>
              </a:lnSpc>
              <a:buFont typeface="Arial"/>
              <a:buChar char="•"/>
            </a:pPr>
            <a:r>
              <a:rPr lang="en-US" sz="2244">
                <a:solidFill>
                  <a:srgbClr val="FFFFFF"/>
                </a:solidFill>
                <a:latin typeface="Belleza"/>
                <a:ea typeface="Belleza"/>
                <a:cs typeface="Belleza"/>
                <a:sym typeface="Belleza"/>
              </a:rPr>
              <a:t>Observed how different models behave on the same dataset.</a:t>
            </a:r>
          </a:p>
          <a:p>
            <a:pPr marL="484683" lvl="1" indent="-242342" algn="l">
              <a:lnSpc>
                <a:spcPts val="3142"/>
              </a:lnSpc>
              <a:buFont typeface="Arial"/>
              <a:buChar char="•"/>
            </a:pPr>
            <a:r>
              <a:rPr lang="en-US" sz="2244">
                <a:solidFill>
                  <a:srgbClr val="FFFFFF"/>
                </a:solidFill>
                <a:latin typeface="Belleza"/>
                <a:ea typeface="Belleza"/>
                <a:cs typeface="Belleza"/>
                <a:sym typeface="Belleza"/>
              </a:rPr>
              <a:t>Found that traditional models struggle with complex patterns.</a:t>
            </a:r>
          </a:p>
          <a:p>
            <a:pPr marL="484683" lvl="1" indent="-242342" algn="l">
              <a:lnSpc>
                <a:spcPts val="3142"/>
              </a:lnSpc>
              <a:buFont typeface="Arial"/>
              <a:buChar char="•"/>
            </a:pPr>
            <a:r>
              <a:rPr lang="en-US" sz="2244">
                <a:solidFill>
                  <a:srgbClr val="FFFFFF"/>
                </a:solidFill>
                <a:latin typeface="Belleza"/>
                <a:ea typeface="Belleza"/>
                <a:cs typeface="Belleza"/>
                <a:sym typeface="Belleza"/>
              </a:rPr>
              <a:t>Learned that deep learning models like LSTM handle temporal dependencies better.</a:t>
            </a:r>
          </a:p>
          <a:p>
            <a:pPr marL="484683" lvl="1" indent="-242342" algn="l">
              <a:lnSpc>
                <a:spcPts val="3142"/>
              </a:lnSpc>
              <a:buFont typeface="Arial"/>
              <a:buChar char="•"/>
            </a:pPr>
            <a:r>
              <a:rPr lang="en-US" sz="2244">
                <a:solidFill>
                  <a:srgbClr val="FFFFFF"/>
                </a:solidFill>
                <a:latin typeface="Belleza"/>
                <a:ea typeface="Belleza"/>
                <a:cs typeface="Belleza"/>
                <a:sym typeface="Belleza"/>
              </a:rPr>
              <a:t>LSTM achieved the best performance (MAE = 3.76, RMSE = 4.88).</a:t>
            </a:r>
          </a:p>
          <a:p>
            <a:pPr marL="484683" lvl="1" indent="-242342" algn="l">
              <a:lnSpc>
                <a:spcPts val="3142"/>
              </a:lnSpc>
              <a:buFont typeface="Arial"/>
              <a:buChar char="•"/>
            </a:pPr>
            <a:r>
              <a:rPr lang="en-US" sz="2244">
                <a:solidFill>
                  <a:srgbClr val="FFFFFF"/>
                </a:solidFill>
                <a:latin typeface="Belleza"/>
                <a:ea typeface="Belleza"/>
                <a:cs typeface="Belleza"/>
                <a:sym typeface="Belleza"/>
              </a:rPr>
              <a:t>Successfully generated a 30-day future forecast.</a:t>
            </a:r>
          </a:p>
          <a:p>
            <a:pPr marL="484683" lvl="1" indent="-242342" algn="l">
              <a:lnSpc>
                <a:spcPts val="3142"/>
              </a:lnSpc>
              <a:buFont typeface="Arial"/>
              <a:buChar char="•"/>
            </a:pPr>
            <a:r>
              <a:rPr lang="en-US" sz="2244">
                <a:solidFill>
                  <a:srgbClr val="FFFFFF"/>
                </a:solidFill>
                <a:latin typeface="Belleza"/>
                <a:ea typeface="Belleza"/>
                <a:cs typeface="Belleza"/>
                <a:sym typeface="Belleza"/>
              </a:rPr>
              <a:t>Gained experience in deploying a model as a web application.</a:t>
            </a:r>
          </a:p>
          <a:p>
            <a:pPr algn="l">
              <a:lnSpc>
                <a:spcPts val="3142"/>
              </a:lnSpc>
            </a:pPr>
            <a:endParaRPr lang="en-US" sz="2244">
              <a:solidFill>
                <a:srgbClr val="FFFFFF"/>
              </a:solidFill>
              <a:latin typeface="Belleza"/>
              <a:ea typeface="Belleza"/>
              <a:cs typeface="Belleza"/>
              <a:sym typeface="Bellez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A1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0000">
                    <a:alpha val="59000"/>
                  </a:srgbClr>
                </a:gs>
                <a:gs pos="100000">
                  <a:srgbClr val="33CD91">
                    <a:alpha val="59000"/>
                  </a:srgbClr>
                </a:gs>
              </a:gsLst>
              <a:lin ang="0"/>
            </a:gradFill>
          </p:spPr>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rot="6004901">
            <a:off x="-3636981" y="5231340"/>
            <a:ext cx="8809549" cy="8505219"/>
          </a:xfrm>
          <a:custGeom>
            <a:avLst/>
            <a:gdLst/>
            <a:ahLst/>
            <a:cxnLst/>
            <a:rect l="l" t="t" r="r" b="b"/>
            <a:pathLst>
              <a:path w="8809549" h="8505219">
                <a:moveTo>
                  <a:pt x="0" y="0"/>
                </a:moveTo>
                <a:lnTo>
                  <a:pt x="8809548" y="0"/>
                </a:lnTo>
                <a:lnTo>
                  <a:pt x="8809548" y="8505219"/>
                </a:lnTo>
                <a:lnTo>
                  <a:pt x="0" y="85052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80612" y="4568444"/>
            <a:ext cx="7319779" cy="1092963"/>
          </a:xfrm>
          <a:prstGeom prst="rect">
            <a:avLst/>
          </a:prstGeom>
        </p:spPr>
        <p:txBody>
          <a:bodyPr lIns="0" tIns="0" rIns="0" bIns="0" rtlCol="0" anchor="t">
            <a:spAutoFit/>
          </a:bodyPr>
          <a:lstStyle/>
          <a:p>
            <a:pPr algn="ctr">
              <a:lnSpc>
                <a:spcPts val="8703"/>
              </a:lnSpc>
            </a:pPr>
            <a:r>
              <a:rPr lang="en-US" sz="6799" b="1">
                <a:solidFill>
                  <a:srgbClr val="75FF82"/>
                </a:solidFill>
                <a:latin typeface="Cardo Bold"/>
                <a:ea typeface="Cardo Bold"/>
                <a:cs typeface="Cardo Bold"/>
                <a:sym typeface="Cardo Bold"/>
              </a:rPr>
              <a:t>Future Scope</a:t>
            </a:r>
          </a:p>
        </p:txBody>
      </p:sp>
      <p:sp>
        <p:nvSpPr>
          <p:cNvPr id="7" name="TextBox 7"/>
          <p:cNvSpPr txBox="1"/>
          <p:nvPr/>
        </p:nvSpPr>
        <p:spPr>
          <a:xfrm>
            <a:off x="7467600" y="952500"/>
            <a:ext cx="4699123" cy="569387"/>
          </a:xfrm>
          <a:prstGeom prst="rect">
            <a:avLst/>
          </a:prstGeom>
        </p:spPr>
        <p:txBody>
          <a:bodyPr wrap="square" lIns="0" tIns="0" rIns="0" bIns="0" rtlCol="0" anchor="t">
            <a:spAutoFit/>
          </a:bodyPr>
          <a:lstStyle/>
          <a:p>
            <a:pPr algn="ctr">
              <a:lnSpc>
                <a:spcPts val="4620"/>
              </a:lnSpc>
            </a:pPr>
            <a:r>
              <a:rPr lang="en-US" sz="3300" b="1" u="sng" dirty="0">
                <a:solidFill>
                  <a:srgbClr val="000000"/>
                </a:solidFill>
                <a:latin typeface="Cardo Bold"/>
                <a:ea typeface="Cardo Bold"/>
                <a:cs typeface="Cardo Bold"/>
                <a:sym typeface="Cardo Bold"/>
              </a:rPr>
              <a:t>Future Enhancements</a:t>
            </a:r>
          </a:p>
        </p:txBody>
      </p:sp>
      <p:sp>
        <p:nvSpPr>
          <p:cNvPr id="8" name="TextBox 8"/>
          <p:cNvSpPr txBox="1"/>
          <p:nvPr/>
        </p:nvSpPr>
        <p:spPr>
          <a:xfrm>
            <a:off x="7315200" y="5827091"/>
            <a:ext cx="4696790" cy="569387"/>
          </a:xfrm>
          <a:prstGeom prst="rect">
            <a:avLst/>
          </a:prstGeom>
        </p:spPr>
        <p:txBody>
          <a:bodyPr wrap="square" lIns="0" tIns="0" rIns="0" bIns="0" rtlCol="0" anchor="t">
            <a:spAutoFit/>
          </a:bodyPr>
          <a:lstStyle/>
          <a:p>
            <a:pPr algn="ctr">
              <a:lnSpc>
                <a:spcPts val="4620"/>
              </a:lnSpc>
            </a:pPr>
            <a:r>
              <a:rPr lang="en-US" sz="3300" b="1" u="sng" dirty="0">
                <a:solidFill>
                  <a:srgbClr val="000000"/>
                </a:solidFill>
                <a:latin typeface="Cardo Bold"/>
                <a:ea typeface="Cardo Bold"/>
                <a:cs typeface="Cardo Bold"/>
                <a:sym typeface="Cardo Bold"/>
              </a:rPr>
              <a:t>Advanced Modeling</a:t>
            </a:r>
          </a:p>
        </p:txBody>
      </p:sp>
      <p:sp>
        <p:nvSpPr>
          <p:cNvPr id="9" name="TextBox 9"/>
          <p:cNvSpPr txBox="1"/>
          <p:nvPr/>
        </p:nvSpPr>
        <p:spPr>
          <a:xfrm>
            <a:off x="7988125" y="6659120"/>
            <a:ext cx="6925817" cy="3276981"/>
          </a:xfrm>
          <a:prstGeom prst="rect">
            <a:avLst/>
          </a:prstGeom>
        </p:spPr>
        <p:txBody>
          <a:bodyPr lIns="0" tIns="0" rIns="0" bIns="0" rtlCol="0" anchor="t">
            <a:spAutoFit/>
          </a:bodyPr>
          <a:lstStyle/>
          <a:p>
            <a:pPr marL="582933" lvl="1" indent="-291467" algn="l">
              <a:lnSpc>
                <a:spcPts val="2862"/>
              </a:lnSpc>
              <a:buFont typeface="Arial"/>
              <a:buChar char="•"/>
            </a:pPr>
            <a:r>
              <a:rPr lang="en-US" sz="2700">
                <a:solidFill>
                  <a:srgbClr val="000000"/>
                </a:solidFill>
                <a:latin typeface="Alice"/>
                <a:ea typeface="Alice"/>
                <a:cs typeface="Alice"/>
                <a:sym typeface="Alice"/>
              </a:rPr>
              <a:t>Experiment with hybrid models (e.g., ARIMA + LSTM).</a:t>
            </a:r>
          </a:p>
          <a:p>
            <a:pPr marL="582933" lvl="1" indent="-291467" algn="l">
              <a:lnSpc>
                <a:spcPts val="2862"/>
              </a:lnSpc>
              <a:buFont typeface="Arial"/>
              <a:buChar char="•"/>
            </a:pPr>
            <a:r>
              <a:rPr lang="en-US" sz="2700">
                <a:solidFill>
                  <a:srgbClr val="000000"/>
                </a:solidFill>
                <a:latin typeface="Alice"/>
                <a:ea typeface="Alice"/>
                <a:cs typeface="Alice"/>
                <a:sym typeface="Alice"/>
              </a:rPr>
              <a:t>Try attention-based and transformer-based models.</a:t>
            </a:r>
          </a:p>
          <a:p>
            <a:pPr marL="582933" lvl="1" indent="-291467" algn="l">
              <a:lnSpc>
                <a:spcPts val="2862"/>
              </a:lnSpc>
              <a:buFont typeface="Arial"/>
              <a:buChar char="•"/>
            </a:pPr>
            <a:r>
              <a:rPr lang="en-US" sz="2700">
                <a:solidFill>
                  <a:srgbClr val="000000"/>
                </a:solidFill>
                <a:latin typeface="Alice"/>
                <a:ea typeface="Alice"/>
                <a:cs typeface="Alice"/>
                <a:sym typeface="Alice"/>
              </a:rPr>
              <a:t>Use ensemble techniques for improved robustness.</a:t>
            </a:r>
          </a:p>
          <a:p>
            <a:pPr marL="582933" lvl="1" indent="-291467" algn="l">
              <a:lnSpc>
                <a:spcPts val="2862"/>
              </a:lnSpc>
              <a:buFont typeface="Arial"/>
              <a:buChar char="•"/>
            </a:pPr>
            <a:r>
              <a:rPr lang="en-US" sz="2700">
                <a:solidFill>
                  <a:srgbClr val="000000"/>
                </a:solidFill>
                <a:latin typeface="Alice"/>
                <a:ea typeface="Alice"/>
                <a:cs typeface="Alice"/>
                <a:sym typeface="Alice"/>
              </a:rPr>
              <a:t>Add uncertainty estimation for prediction confidence.</a:t>
            </a:r>
          </a:p>
          <a:p>
            <a:pPr algn="l">
              <a:lnSpc>
                <a:spcPts val="2862"/>
              </a:lnSpc>
            </a:pPr>
            <a:endParaRPr lang="en-US" sz="2700">
              <a:solidFill>
                <a:srgbClr val="000000"/>
              </a:solidFill>
              <a:latin typeface="Alice"/>
              <a:ea typeface="Alice"/>
              <a:cs typeface="Alice"/>
              <a:sym typeface="Alice"/>
            </a:endParaRPr>
          </a:p>
        </p:txBody>
      </p:sp>
      <p:sp>
        <p:nvSpPr>
          <p:cNvPr id="10" name="TextBox 10"/>
          <p:cNvSpPr txBox="1"/>
          <p:nvPr/>
        </p:nvSpPr>
        <p:spPr>
          <a:xfrm>
            <a:off x="7729499" y="1572552"/>
            <a:ext cx="7443068" cy="3921009"/>
          </a:xfrm>
          <a:prstGeom prst="rect">
            <a:avLst/>
          </a:prstGeom>
        </p:spPr>
        <p:txBody>
          <a:bodyPr lIns="0" tIns="0" rIns="0" bIns="0" rtlCol="0" anchor="t">
            <a:spAutoFit/>
          </a:bodyPr>
          <a:lstStyle/>
          <a:p>
            <a:pPr marL="544666" lvl="1" indent="-272333" algn="l">
              <a:lnSpc>
                <a:spcPts val="3128"/>
              </a:lnSpc>
              <a:buFont typeface="Arial"/>
              <a:buChar char="•"/>
            </a:pPr>
            <a:r>
              <a:rPr lang="en-US" sz="2522">
                <a:solidFill>
                  <a:srgbClr val="000000"/>
                </a:solidFill>
                <a:latin typeface="Alice"/>
                <a:ea typeface="Alice"/>
                <a:cs typeface="Alice"/>
                <a:sym typeface="Alice"/>
              </a:rPr>
              <a:t>Integrate real-time stock data using financial APIs.</a:t>
            </a:r>
          </a:p>
          <a:p>
            <a:pPr marL="544666" lvl="1" indent="-272333" algn="l">
              <a:lnSpc>
                <a:spcPts val="3128"/>
              </a:lnSpc>
              <a:buFont typeface="Arial"/>
              <a:buChar char="•"/>
            </a:pPr>
            <a:r>
              <a:rPr lang="en-US" sz="2522">
                <a:solidFill>
                  <a:srgbClr val="000000"/>
                </a:solidFill>
                <a:latin typeface="Alice"/>
                <a:ea typeface="Alice"/>
                <a:cs typeface="Alice"/>
                <a:sym typeface="Alice"/>
              </a:rPr>
              <a:t>Include external factors such as news sentiment, economic indicators, and global market trends.</a:t>
            </a:r>
          </a:p>
          <a:p>
            <a:pPr marL="544666" lvl="1" indent="-272333" algn="l">
              <a:lnSpc>
                <a:spcPts val="3128"/>
              </a:lnSpc>
              <a:buFont typeface="Arial"/>
              <a:buChar char="•"/>
            </a:pPr>
            <a:r>
              <a:rPr lang="en-US" sz="2522">
                <a:solidFill>
                  <a:srgbClr val="000000"/>
                </a:solidFill>
                <a:latin typeface="Alice"/>
                <a:ea typeface="Alice"/>
                <a:cs typeface="Alice"/>
                <a:sym typeface="Alice"/>
              </a:rPr>
              <a:t>Extend the forecasting horizon beyond 30 days.</a:t>
            </a:r>
          </a:p>
          <a:p>
            <a:pPr marL="544666" lvl="1" indent="-272333" algn="l">
              <a:lnSpc>
                <a:spcPts val="3128"/>
              </a:lnSpc>
              <a:buFont typeface="Arial"/>
              <a:buChar char="•"/>
            </a:pPr>
            <a:r>
              <a:rPr lang="en-US" sz="2522">
                <a:solidFill>
                  <a:srgbClr val="000000"/>
                </a:solidFill>
                <a:latin typeface="Alice"/>
                <a:ea typeface="Alice"/>
                <a:cs typeface="Alice"/>
                <a:sym typeface="Alice"/>
              </a:rPr>
              <a:t>Improve the user interface with advanced interactive visualizations.</a:t>
            </a:r>
          </a:p>
          <a:p>
            <a:pPr marL="544666" lvl="1" indent="-272333" algn="l">
              <a:lnSpc>
                <a:spcPts val="3128"/>
              </a:lnSpc>
              <a:buFont typeface="Arial"/>
              <a:buChar char="•"/>
            </a:pPr>
            <a:r>
              <a:rPr lang="en-US" sz="2522">
                <a:solidFill>
                  <a:srgbClr val="000000"/>
                </a:solidFill>
                <a:latin typeface="Alice"/>
                <a:ea typeface="Alice"/>
                <a:cs typeface="Alice"/>
                <a:sym typeface="Alice"/>
              </a:rPr>
              <a:t>Deploy the application on a cloud platform for wider accessibility.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1">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id="5" name="TextBox 5"/>
            <p:cNvSpPr txBox="1"/>
            <p:nvPr/>
          </p:nvSpPr>
          <p:spPr>
            <a:xfrm>
              <a:off x="0" y="-47625"/>
              <a:ext cx="4274726" cy="221509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465129" y="4162822"/>
            <a:ext cx="9357743" cy="1874366"/>
          </a:xfrm>
          <a:prstGeom prst="rect">
            <a:avLst/>
          </a:prstGeom>
        </p:spPr>
        <p:txBody>
          <a:bodyPr lIns="0" tIns="0" rIns="0" bIns="0" rtlCol="0" anchor="t">
            <a:spAutoFit/>
          </a:bodyPr>
          <a:lstStyle/>
          <a:p>
            <a:pPr algn="ctr">
              <a:lnSpc>
                <a:spcPts val="15338"/>
              </a:lnSpc>
            </a:pPr>
            <a:r>
              <a:rPr lang="en-US" sz="10956" b="1">
                <a:solidFill>
                  <a:srgbClr val="FFFFFF"/>
                </a:solidFill>
                <a:latin typeface="TT Hoves Bold"/>
                <a:ea typeface="TT Hoves Bold"/>
                <a:cs typeface="TT Hoves Bold"/>
                <a:sym typeface="TT Hoves Bold"/>
              </a:rPr>
              <a:t>Thank You</a:t>
            </a:r>
          </a:p>
        </p:txBody>
      </p:sp>
      <p:sp>
        <p:nvSpPr>
          <p:cNvPr id="7" name="AutoShape 7"/>
          <p:cNvSpPr/>
          <p:nvPr/>
        </p:nvSpPr>
        <p:spPr>
          <a:xfrm>
            <a:off x="2261281" y="7781528"/>
            <a:ext cx="13765437" cy="0"/>
          </a:xfrm>
          <a:prstGeom prst="line">
            <a:avLst/>
          </a:prstGeom>
          <a:ln w="19050" cap="flat">
            <a:solidFill>
              <a:srgbClr val="FFFFFF"/>
            </a:solidFill>
            <a:prstDash val="solid"/>
            <a:headEnd type="none" w="sm" len="sm"/>
            <a:tailEnd type="none" w="sm" len="sm"/>
          </a:ln>
        </p:spPr>
      </p:sp>
      <p:sp>
        <p:nvSpPr>
          <p:cNvPr id="8" name="Freeform 8"/>
          <p:cNvSpPr/>
          <p:nvPr/>
        </p:nvSpPr>
        <p:spPr>
          <a:xfrm>
            <a:off x="2598831" y="1764147"/>
            <a:ext cx="762000" cy="640080"/>
          </a:xfrm>
          <a:custGeom>
            <a:avLst/>
            <a:gdLst/>
            <a:ahLst/>
            <a:cxnLst/>
            <a:rect l="l" t="t" r="r" b="b"/>
            <a:pathLst>
              <a:path w="762000" h="640080">
                <a:moveTo>
                  <a:pt x="0" y="0"/>
                </a:moveTo>
                <a:lnTo>
                  <a:pt x="762000" y="0"/>
                </a:lnTo>
                <a:lnTo>
                  <a:pt x="762000" y="640080"/>
                </a:lnTo>
                <a:lnTo>
                  <a:pt x="0" y="640080"/>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1846</Words>
  <Application>Microsoft Office PowerPoint</Application>
  <PresentationFormat>Custom</PresentationFormat>
  <Paragraphs>255</Paragraphs>
  <Slides>16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Canva Sans</vt:lpstr>
      <vt:lpstr>Belleza</vt:lpstr>
      <vt:lpstr>Brick Sans</vt:lpstr>
      <vt:lpstr>Biski</vt:lpstr>
      <vt:lpstr>Alice</vt:lpstr>
      <vt:lpstr>Canva Sans Bold</vt:lpstr>
      <vt:lpstr>TT Hoves Bold</vt:lpstr>
      <vt:lpstr>The Seasons</vt:lpstr>
      <vt:lpstr>Calibri</vt:lpstr>
      <vt:lpstr>Cardo Bold</vt:lpstr>
      <vt:lpstr>TT Hoves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Stock Price Forecasting Presentation</dc:title>
  <cp:lastModifiedBy>amitraychoudhury503@gmail.com</cp:lastModifiedBy>
  <cp:revision>2</cp:revision>
  <dcterms:created xsi:type="dcterms:W3CDTF">2006-08-16T00:00:00Z</dcterms:created>
  <dcterms:modified xsi:type="dcterms:W3CDTF">2026-01-17T19:41:20Z</dcterms:modified>
  <dc:identifier>DAG-UHiISLk</dc:identifier>
</cp:coreProperties>
</file>